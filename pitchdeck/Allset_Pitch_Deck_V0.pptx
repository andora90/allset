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8505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Allset repense l'organisation du voyage famille — du problème concret à la solution évidente. Pitch investisseurs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à 4 voyages par an. Notes iPhone + Google Sheets + emails perdus. Zéro structure, tout repart de zéro. Et c'est toujours Marie qui 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Marie, 35-45 ans, CSP+, cadre active, 2 enfants. Chief Travel Officer du foyer par défaut — rôle non choisi, non partagé. Irritants : repartir de zéro, tout dans la tête, ne peut pas déléguer.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irritants structurels. 1/ Repartir de zéro — l'ossature n'est jamais mémorisée. 2/ Tout dans la tête — le partenaire n'a aucune visibilité. 3/ Impossible à déléguer — partager crée plus de friction qu'il n'en résout.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Allset : un moule de voyage réutilisable. Il génère automatiquement les checklists par type d'étape. Un seul écran pour l'état de l'organisation. Un lien pour partager sans téléchargement.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gestes : créer le voyage, laisser Allset générer les checklists automatiquement, partager en un lien. Valeur dès la première étape — sans template, sans configuration préalable.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moment aha : Marie ajoute 'Vol Paris → Barcelone'. Allset génère instantanément 8 items — dont 2 qu'elle aurait oubliés. Valeur perçue dès la première étape, sans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écrans : le dashboard voyage avec statut de chaque étape, la checklist détaillée auto-générée, et la vue partenaire accessible par lien — sans téléchargement.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3,5 millions de familles CSP+ en France. Plus de 10 millions de voyages famille par an. Et zéro outil dédié sur ce segment — Allset se positionne en premier.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 MVP : valider que Marie utilise Allset à la place de ses Notes iPhone. V2 : rétention avec templates réutilisables et délégation. V3 : automatisation poussée, import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L'ambition : Allset devient la référence pour l'organisation famille en voyage. Modèle freemium, viralité organique — chaque lien partagé est une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39f0219-601d-4a3f-87fe-5e421a9e1b26.claudeusercontent.com/cdn-cgi/l/email-protectio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82450" y="847725"/>
            <a:ext cx="8591550" cy="8591550"/>
          </a:xfrm>
          <a:prstGeom prst="ellipse">
            <a:avLst/>
          </a:prstGeom>
          <a:ln w="9525">
            <a:solidFill>
              <a:srgbClr val="C4BBA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3506450" y="2085975"/>
            <a:ext cx="6115050" cy="6115050"/>
          </a:xfrm>
          <a:prstGeom prst="ellipse">
            <a:avLst/>
          </a:prstGeom>
          <a:ln w="9525">
            <a:solidFill>
              <a:srgbClr val="8D5B4C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4326046" y="809625"/>
            <a:ext cx="31008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CONFIDENTIEL ·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821781"/>
            <a:ext cx="10477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75" dirty="0">
                <a:solidFill>
                  <a:srgbClr val="C4BBAF">
                    <a:alpha val="5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PRESENTATION PROJET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3498056"/>
            <a:ext cx="9810750" cy="217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400" i="1" kern="0" spc="-75" dirty="0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 voyage famille, réinventé.</a:t>
            </a:r>
            <a:endParaRPr lang="en-US" sz="8400" dirty="0"/>
          </a:p>
        </p:txBody>
      </p:sp>
      <p:sp>
        <p:nvSpPr>
          <p:cNvPr id="8" name="Shape 6"/>
          <p:cNvSpPr/>
          <p:nvPr/>
        </p:nvSpPr>
        <p:spPr>
          <a:xfrm>
            <a:off x="1143000" y="6050756"/>
            <a:ext cx="495300" cy="14288"/>
          </a:xfrm>
          <a:prstGeom prst="rect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143000" y="6484144"/>
            <a:ext cx="5690235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2400" dirty="0">
                <a:solidFill>
                  <a:srgbClr val="F5F0E8">
                    <a:alpha val="4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 mobile d'organisation voyage pour les familles actives.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C4BBAF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607730" y="9420225"/>
            <a:ext cx="6134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0E8">
                    <a:alpha val="1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· 11</a:t>
            </a:r>
            <a:endParaRPr lang="en-US" sz="18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CECF5480-0B90-B074-EBD5-27253DBCF3B0}"/>
              </a:ext>
            </a:extLst>
          </p:cNvPr>
          <p:cNvSpPr/>
          <p:nvPr/>
        </p:nvSpPr>
        <p:spPr>
          <a:xfrm>
            <a:off x="1143000" y="762000"/>
            <a:ext cx="1600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5F0E8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08263" y="6096000"/>
            <a:ext cx="1769060" cy="403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0" b="1" dirty="0">
                <a:solidFill>
                  <a:srgbClr val="F5F0E8">
                    <a:alpha val="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1143000" y="762000"/>
            <a:ext cx="1600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5F0E8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243423" y="800100"/>
            <a:ext cx="20917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PROBLÈME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483644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75" dirty="0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— LE CONSTAT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3159919"/>
            <a:ext cx="10203180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300" i="1" kern="0" spc="-37" dirty="0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"Elle recommence à zéro. À chaque voyage."</a:t>
            </a:r>
            <a:endParaRPr lang="en-US" sz="6300" dirty="0"/>
          </a:p>
        </p:txBody>
      </p:sp>
      <p:sp>
        <p:nvSpPr>
          <p:cNvPr id="7" name="Shape 5"/>
          <p:cNvSpPr/>
          <p:nvPr/>
        </p:nvSpPr>
        <p:spPr>
          <a:xfrm>
            <a:off x="1143000" y="5331619"/>
            <a:ext cx="381000" cy="14288"/>
          </a:xfrm>
          <a:prstGeom prst="rect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143000" y="5765006"/>
            <a:ext cx="7063740" cy="275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2400" dirty="0">
                <a:solidFill>
                  <a:srgbClr val="F5F0E8">
                    <a:alpha val="4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Marie porte seule l'organisation complète de chaque voyage — dans sa tête, sur des Notes iPhone, un Google Sheet recrée à chaque séjour. Trois outils, zéro structure, aucune possibilité de déléguer.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C4BBAF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549687" y="9420225"/>
            <a:ext cx="6715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0E8">
                    <a:alpha val="1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· 11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775" y="0"/>
            <a:ext cx="4334247" cy="537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0" b="1" i="1" dirty="0">
                <a:solidFill>
                  <a:srgbClr val="1C1714">
                    <a:alpha val="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142999" y="762000"/>
            <a:ext cx="149141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C1714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420529" y="800100"/>
            <a:ext cx="18969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1C1714">
                    <a:alpha val="2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PERSONA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486025"/>
            <a:ext cx="87534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75" dirty="0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UTILISATRICE CIBLE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971800"/>
            <a:ext cx="8753460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300" i="1" kern="0" spc="-75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Marie</a:t>
            </a:r>
            <a:endParaRPr lang="en-US" sz="6300" dirty="0"/>
          </a:p>
        </p:txBody>
      </p:sp>
      <p:sp>
        <p:nvSpPr>
          <p:cNvPr id="7" name="Text 5"/>
          <p:cNvSpPr/>
          <p:nvPr/>
        </p:nvSpPr>
        <p:spPr>
          <a:xfrm>
            <a:off x="1143000" y="3952875"/>
            <a:ext cx="8196422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2250" dirty="0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35–45 ans · CSP+ · Cadre active · 2 enfants </a:t>
            </a:r>
            <a:r>
              <a:rPr lang="en-US" sz="2250" dirty="0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Chief Travel Officer du foyer — par défaut.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143000" y="5419725"/>
            <a:ext cx="28575" cy="28575"/>
          </a:xfrm>
          <a:prstGeom prst="ellipse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343025" y="5305425"/>
            <a:ext cx="729561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FONCTIONNEL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43025" y="5648325"/>
            <a:ext cx="729561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Organiser un voyage sans repartir de zéro, rien oublier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43000" y="6400800"/>
            <a:ext cx="28575" cy="28575"/>
          </a:xfrm>
          <a:prstGeom prst="ellipse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343025" y="6286500"/>
            <a:ext cx="62699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ÉMOTIONNEL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43025" y="6629400"/>
            <a:ext cx="626996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Partir sereine — pas épuisée avant de décoller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143000" y="7381875"/>
            <a:ext cx="28575" cy="28575"/>
          </a:xfrm>
          <a:prstGeom prst="ellipse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343025" y="7267575"/>
            <a:ext cx="72419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SOCIAL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43025" y="7610475"/>
            <a:ext cx="724191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Rendre l'organisation visible et délégable sans friction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862691" y="1666875"/>
            <a:ext cx="9525" cy="71723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0634216" y="4267200"/>
            <a:ext cx="6510784" cy="9525"/>
          </a:xfrm>
          <a:prstGeom prst="rect">
            <a:avLst/>
          </a:prstGeom>
          <a:solidFill>
            <a:srgbClr val="5C4742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0634216" y="2619375"/>
            <a:ext cx="716186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50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3–4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10634216" y="3609975"/>
            <a:ext cx="716186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voyages par an par famille CSP+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0634216" y="6229350"/>
            <a:ext cx="6510784" cy="9525"/>
          </a:xfrm>
          <a:prstGeom prst="rect">
            <a:avLst/>
          </a:prstGeom>
          <a:solidFill>
            <a:srgbClr val="5C4742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0634216" y="4581525"/>
            <a:ext cx="716186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50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100%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10634216" y="5572125"/>
            <a:ext cx="716186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la charge mentale voyage portée seule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634216" y="6543675"/>
            <a:ext cx="716186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50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</a:t>
            </a:r>
            <a:endParaRPr lang="en-US" sz="7200" dirty="0"/>
          </a:p>
        </p:txBody>
      </p:sp>
      <p:sp>
        <p:nvSpPr>
          <p:cNvPr id="25" name="Text 23"/>
          <p:cNvSpPr/>
          <p:nvPr/>
        </p:nvSpPr>
        <p:spPr>
          <a:xfrm>
            <a:off x="10634216" y="7534275"/>
            <a:ext cx="716186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outil dédié dans sa vie aujourd'hui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1C1714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543883" y="9420225"/>
            <a:ext cx="6773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714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· 11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99506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C1714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5123170" y="800100"/>
            <a:ext cx="22240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1C1714">
                    <a:alpha val="2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IRRITANTS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23975"/>
            <a:ext cx="1760220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kern="0" spc="-37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Trois irritants récurrents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76450"/>
            <a:ext cx="17602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Identifiés sur le profil Marie, validés à chaque voyage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2962275"/>
            <a:ext cx="485452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50" b="1" dirty="0">
                <a:solidFill>
                  <a:srgbClr val="1C1714">
                    <a:alpha val="6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9750" dirty="0"/>
          </a:p>
        </p:txBody>
      </p:sp>
      <p:sp>
        <p:nvSpPr>
          <p:cNvPr id="7" name="Text 5"/>
          <p:cNvSpPr/>
          <p:nvPr/>
        </p:nvSpPr>
        <p:spPr>
          <a:xfrm>
            <a:off x="1143000" y="4048125"/>
            <a:ext cx="48545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8D5B4C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REPARTIR DE ZÉRO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4514850"/>
            <a:ext cx="4545596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kern="0" spc="-22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Aucune structure mémorisée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1143000" y="5791200"/>
            <a:ext cx="4545596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100" dirty="0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À chaque nouveau voyage, Marie recrée l'ossature depuis zéro. Aucun système ne retient ce qu'elle a déjà construit.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242000" y="2886075"/>
            <a:ext cx="9525" cy="59531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937325" y="2962275"/>
            <a:ext cx="485452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50" b="1" dirty="0">
                <a:solidFill>
                  <a:srgbClr val="1C1714">
                    <a:alpha val="6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9750" dirty="0"/>
          </a:p>
        </p:txBody>
      </p:sp>
      <p:sp>
        <p:nvSpPr>
          <p:cNvPr id="12" name="Text 10"/>
          <p:cNvSpPr/>
          <p:nvPr/>
        </p:nvSpPr>
        <p:spPr>
          <a:xfrm>
            <a:off x="6937325" y="4048125"/>
            <a:ext cx="48545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8D5B4C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TOUT DANS SA TÊTE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37325" y="4514850"/>
            <a:ext cx="4545596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kern="0" spc="-22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Charge mentale invisible</a:t>
            </a:r>
            <a:endParaRPr lang="en-US" sz="3750" dirty="0"/>
          </a:p>
        </p:txBody>
      </p:sp>
      <p:sp>
        <p:nvSpPr>
          <p:cNvPr id="14" name="Text 12"/>
          <p:cNvSpPr/>
          <p:nvPr/>
        </p:nvSpPr>
        <p:spPr>
          <a:xfrm>
            <a:off x="6937325" y="5791200"/>
            <a:ext cx="4545596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100" dirty="0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L'état d'avancement de l'organisation n'existe que dans sa tête. Son partenaire n'a aucune visibilité.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2036326" y="2886075"/>
            <a:ext cx="9525" cy="59531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2731651" y="2962275"/>
            <a:ext cx="485452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50" b="1" dirty="0">
                <a:solidFill>
                  <a:srgbClr val="1C1714">
                    <a:alpha val="6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9750" dirty="0"/>
          </a:p>
        </p:txBody>
      </p:sp>
      <p:sp>
        <p:nvSpPr>
          <p:cNvPr id="17" name="Text 15"/>
          <p:cNvSpPr/>
          <p:nvPr/>
        </p:nvSpPr>
        <p:spPr>
          <a:xfrm>
            <a:off x="12731651" y="4048125"/>
            <a:ext cx="48545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8D5B4C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IMPOSSIBLE À DÉLÉGUER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731651" y="4514850"/>
            <a:ext cx="4545596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kern="0" spc="-22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Partager crée plus de friction</a:t>
            </a:r>
            <a:endParaRPr lang="en-US" sz="3750" dirty="0"/>
          </a:p>
        </p:txBody>
      </p:sp>
      <p:sp>
        <p:nvSpPr>
          <p:cNvPr id="19" name="Text 17"/>
          <p:cNvSpPr/>
          <p:nvPr/>
        </p:nvSpPr>
        <p:spPr>
          <a:xfrm>
            <a:off x="12731651" y="5791200"/>
            <a:ext cx="4545596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100" dirty="0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Pour déléguer une tâche, elle doit tout réexpliquer. Partager un Google Sheet crée plus de questions qu'il n'en résout.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1C1714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540311" y="9420225"/>
            <a:ext cx="6808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714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· 11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4500" y="1800225"/>
            <a:ext cx="6686550" cy="6686550"/>
          </a:xfrm>
          <a:prstGeom prst="ellipse">
            <a:avLst/>
          </a:prstGeom>
          <a:ln w="9525">
            <a:solidFill>
              <a:srgbClr val="8D5B4C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142999" y="762000"/>
            <a:ext cx="995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5F0E8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284202" y="800100"/>
            <a:ext cx="20468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SOLUTION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869406"/>
            <a:ext cx="17602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75" dirty="0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— LA RÉPONSE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0099" y="3887390"/>
            <a:ext cx="2975610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100" i="1" kern="0" spc="-150" dirty="0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en-US" sz="11100" dirty="0"/>
          </a:p>
        </p:txBody>
      </p:sp>
      <p:sp>
        <p:nvSpPr>
          <p:cNvPr id="7" name="Text 5"/>
          <p:cNvSpPr/>
          <p:nvPr/>
        </p:nvSpPr>
        <p:spPr>
          <a:xfrm>
            <a:off x="4191000" y="3469481"/>
            <a:ext cx="4120515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250" dirty="0">
                <a:solidFill>
                  <a:srgbClr val="F5F0E8">
                    <a:alpha val="3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votre voyage en étapes et génère automatiquement ce qu'il faut vérifier pour chacune.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143000" y="6041231"/>
            <a:ext cx="381000" cy="14288"/>
          </a:xfrm>
          <a:prstGeom prst="rect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143000" y="6503194"/>
            <a:ext cx="4153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8D5B4C">
                    <a:alpha val="75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634579" y="6474619"/>
            <a:ext cx="3143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mémorisée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634579" y="6884194"/>
            <a:ext cx="2943225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F5F0E8">
                    <a:alpha val="3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moule de voyage réutilisable à chaque séjour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254079" y="6503194"/>
            <a:ext cx="44469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8D5B4C">
                    <a:alpha val="75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5774978" y="6474619"/>
            <a:ext cx="319252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Checklists intelligentes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774978" y="6884194"/>
            <a:ext cx="2943225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F5F0E8">
                    <a:alpha val="3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Générées automatiquement par type d'étape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439275" y="6503194"/>
            <a:ext cx="440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8D5B4C">
                    <a:alpha val="75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956155" y="6474619"/>
            <a:ext cx="3143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Partage en un lien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956155" y="6884194"/>
            <a:ext cx="2943225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F5F0E8">
                    <a:alpha val="3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Vue partenaire sans téléchargement, synchronisée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C4BBAF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539567" y="9420225"/>
            <a:ext cx="6816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0E8">
                    <a:alpha val="1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· 11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9" y="762000"/>
            <a:ext cx="119914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C1714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3964096" y="800100"/>
            <a:ext cx="34989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1C1714">
                    <a:alpha val="2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COMMENT ÇA MARCHE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23975"/>
            <a:ext cx="1760220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kern="0" spc="-37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Simple. Immédiat. Réutilisable.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2533650"/>
            <a:ext cx="514350" cy="514350"/>
          </a:xfrm>
          <a:prstGeom prst="ellipse">
            <a:avLst/>
          </a:prstGeom>
          <a:ln w="9525">
            <a:solidFill>
              <a:srgbClr val="5C474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346299" y="2628900"/>
            <a:ext cx="18380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8D5B4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809750" y="2786063"/>
            <a:ext cx="3460700" cy="9525"/>
          </a:xfrm>
          <a:prstGeom prst="rect">
            <a:avLst/>
          </a:prstGeom>
          <a:solidFill>
            <a:srgbClr val="5C4742">
              <a:alpha val="1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143000" y="3314700"/>
            <a:ext cx="45401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3762375"/>
            <a:ext cx="4251274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kern="0" spc="-22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Vous créez votre voyage</a:t>
            </a:r>
            <a:endParaRPr lang="en-US" sz="3750" dirty="0"/>
          </a:p>
        </p:txBody>
      </p:sp>
      <p:sp>
        <p:nvSpPr>
          <p:cNvPr id="10" name="Text 8"/>
          <p:cNvSpPr/>
          <p:nvPr/>
        </p:nvSpPr>
        <p:spPr>
          <a:xfrm>
            <a:off x="1143000" y="5038725"/>
            <a:ext cx="4251274" cy="1381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100" dirty="0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Titre, dates, destination, participants. Allset est prêt en moins d'une minute.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880050" y="5010150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50" dirty="0">
                <a:solidFill>
                  <a:srgbClr val="5C4742">
                    <a:alpha val="1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→</a:t>
            </a:r>
            <a:endParaRPr lang="en-US" sz="4650" dirty="0"/>
          </a:p>
        </p:txBody>
      </p:sp>
      <p:sp>
        <p:nvSpPr>
          <p:cNvPr id="12" name="Shape 10"/>
          <p:cNvSpPr/>
          <p:nvPr/>
        </p:nvSpPr>
        <p:spPr>
          <a:xfrm>
            <a:off x="7080200" y="2533650"/>
            <a:ext cx="495300" cy="495300"/>
          </a:xfrm>
          <a:prstGeom prst="ellipse">
            <a:avLst/>
          </a:prstGeom>
          <a:solidFill>
            <a:srgbClr val="1C17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262664" y="2619375"/>
            <a:ext cx="2064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7727900" y="2776538"/>
            <a:ext cx="3479750" cy="9525"/>
          </a:xfrm>
          <a:prstGeom prst="rect">
            <a:avLst/>
          </a:prstGeom>
          <a:solidFill>
            <a:srgbClr val="5C4742">
              <a:alpha val="1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080200" y="3295650"/>
            <a:ext cx="45401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GÉNÉRER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80200" y="3743325"/>
            <a:ext cx="4251274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kern="0" spc="-22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 génère vos checklists</a:t>
            </a:r>
            <a:endParaRPr lang="en-US" sz="3750" dirty="0"/>
          </a:p>
        </p:txBody>
      </p:sp>
      <p:sp>
        <p:nvSpPr>
          <p:cNvPr id="17" name="Text 15"/>
          <p:cNvSpPr/>
          <p:nvPr/>
        </p:nvSpPr>
        <p:spPr>
          <a:xfrm>
            <a:off x="7080200" y="5019675"/>
            <a:ext cx="4251274" cy="2276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100" dirty="0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Automatiquement par type d'étape — vol, hôtel, location voiture, logement. Chaque étape a sa checklist pré-remplie et éditable.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817251" y="5010150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50" dirty="0">
                <a:solidFill>
                  <a:srgbClr val="5C4742">
                    <a:alpha val="1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→</a:t>
            </a:r>
            <a:endParaRPr lang="en-US" sz="4650" dirty="0"/>
          </a:p>
        </p:txBody>
      </p:sp>
      <p:sp>
        <p:nvSpPr>
          <p:cNvPr id="19" name="Shape 17"/>
          <p:cNvSpPr/>
          <p:nvPr/>
        </p:nvSpPr>
        <p:spPr>
          <a:xfrm>
            <a:off x="13017401" y="2533650"/>
            <a:ext cx="514350" cy="514350"/>
          </a:xfrm>
          <a:prstGeom prst="ellipse">
            <a:avLst/>
          </a:prstGeom>
          <a:ln w="9525">
            <a:solidFill>
              <a:srgbClr val="5C474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3211026" y="2628900"/>
            <a:ext cx="2032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8D5B4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13684151" y="2786063"/>
            <a:ext cx="3460700" cy="9525"/>
          </a:xfrm>
          <a:prstGeom prst="rect">
            <a:avLst/>
          </a:prstGeom>
          <a:solidFill>
            <a:srgbClr val="5C4742">
              <a:alpha val="1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3017401" y="3314700"/>
            <a:ext cx="45401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PARTAGER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017401" y="3762375"/>
            <a:ext cx="4251274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kern="0" spc="-22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Vous partagez en un lien</a:t>
            </a:r>
            <a:endParaRPr lang="en-US" sz="3750" dirty="0"/>
          </a:p>
        </p:txBody>
      </p:sp>
      <p:sp>
        <p:nvSpPr>
          <p:cNvPr id="24" name="Text 22"/>
          <p:cNvSpPr/>
          <p:nvPr/>
        </p:nvSpPr>
        <p:spPr>
          <a:xfrm>
            <a:off x="13017401" y="5038725"/>
            <a:ext cx="4251274" cy="1381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100" dirty="0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Votre partenaire voit et coche sans télécharger d'app. Synchronisation en temps réel.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1C1714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535549" y="9420225"/>
            <a:ext cx="68565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714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 · 11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99506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C1714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4820454" y="800100"/>
            <a:ext cx="25570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1C1714">
                    <a:alpha val="2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MOMENT AHA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23975"/>
            <a:ext cx="1760220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i="1" kern="0" spc="-37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La valeur, dès la première étape créée.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4481513"/>
            <a:ext cx="6726436" cy="2333625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9525">
            <a:solidFill>
              <a:srgbClr val="5C4742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571625" y="4872038"/>
            <a:ext cx="64561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MARIE SAISIT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71625" y="5357813"/>
            <a:ext cx="645610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i="1" kern="0" spc="-37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 Paris → Barcelone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1571625" y="6062663"/>
            <a:ext cx="361950" cy="361950"/>
          </a:xfrm>
          <a:prstGeom prst="ellipse">
            <a:avLst/>
          </a:prstGeom>
          <a:solidFill>
            <a:srgbClr val="F5F0E8"/>
          </a:solidFill>
          <a:ln w="9525">
            <a:solidFill>
              <a:srgbClr val="5C474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543050" y="6072188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047875" y="6067425"/>
            <a:ext cx="310477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 : Vol · Sélectionné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768554" y="4643438"/>
            <a:ext cx="938957" cy="371475"/>
          </a:xfrm>
          <a:prstGeom prst="roundRect">
            <a:avLst>
              <a:gd name="adj" fmla="val 50000"/>
            </a:avLst>
          </a:prstGeom>
          <a:solidFill>
            <a:srgbClr val="F5F0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882854" y="4681538"/>
            <a:ext cx="78655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SAISIE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55236" y="534352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dirty="0">
                <a:solidFill>
                  <a:srgbClr val="1C1714">
                    <a:alpha val="1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→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9850636" y="3000375"/>
            <a:ext cx="7294364" cy="5295900"/>
          </a:xfrm>
          <a:prstGeom prst="roundRect">
            <a:avLst>
              <a:gd name="adj" fmla="val 540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0269736" y="3381375"/>
            <a:ext cx="71017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C4BBAF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 GÉNÈRE INSTANTANÉMENT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269736" y="3752850"/>
            <a:ext cx="71017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kern="0" spc="-75" dirty="0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8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10269736" y="4552950"/>
            <a:ext cx="71017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5F0E8">
                    <a:alpha val="4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items de checklist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0269736" y="5257800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8D5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0241459" y="5219700"/>
            <a:ext cx="2851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36436" y="5172075"/>
            <a:ext cx="47842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5F0E8">
                    <a:alpha val="6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Billet confirmé (n° réservation + email)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269736" y="5676900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8D5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0241459" y="5638800"/>
            <a:ext cx="2851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36436" y="5591175"/>
            <a:ext cx="269419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5F0E8">
                    <a:alpha val="6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Check-in en ligne fait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0269736" y="6086475"/>
            <a:ext cx="171450" cy="171450"/>
          </a:xfrm>
          <a:prstGeom prst="roundRect">
            <a:avLst>
              <a:gd name="adj" fmla="val 16667"/>
            </a:avLst>
          </a:prstGeom>
          <a:ln w="9525">
            <a:solidFill>
              <a:srgbClr val="C4BBA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10555486" y="6010275"/>
            <a:ext cx="446325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5F0E8">
                    <a:alpha val="3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Autorisation de sortie du territoire…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269736" y="6505575"/>
            <a:ext cx="171450" cy="171450"/>
          </a:xfrm>
          <a:prstGeom prst="roundRect">
            <a:avLst>
              <a:gd name="adj" fmla="val 16667"/>
            </a:avLst>
          </a:prstGeom>
          <a:ln w="9525">
            <a:solidFill>
              <a:srgbClr val="C4BBA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0555486" y="6429375"/>
            <a:ext cx="415367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5F0E8">
                    <a:alpha val="3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Heure de présentation aéroport…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269736" y="6981825"/>
            <a:ext cx="6456164" cy="933450"/>
          </a:xfrm>
          <a:prstGeom prst="roundRect">
            <a:avLst>
              <a:gd name="adj" fmla="val 2041"/>
            </a:avLst>
          </a:prstGeom>
          <a:solidFill>
            <a:srgbClr val="8D5B4C">
              <a:alpha val="18000"/>
            </a:srgbClr>
          </a:solidFill>
          <a:ln w="9525">
            <a:solidFill>
              <a:srgbClr val="8D5B4C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10431661" y="7105650"/>
            <a:ext cx="631628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Dont </a:t>
            </a:r>
            <a:r>
              <a:rPr lang="en-US" sz="1800" dirty="0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items qu'elle aurait oubliés </a:t>
            </a:r>
            <a:r>
              <a:rPr lang="en-US" sz="180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documents enfants, autorisation sortie territoire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1C1714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560105" y="9420225"/>
            <a:ext cx="6610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714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 · 11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9" y="762000"/>
            <a:ext cx="11028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F5F0E8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5959435" y="838200"/>
            <a:ext cx="12617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300" dirty="0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L'INTERFACE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3000" y="1466850"/>
            <a:ext cx="17602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650" i="1" kern="0" spc="-37" dirty="0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Trois écrans. Une seule logique.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5125045" y="3486150"/>
            <a:ext cx="2162175" cy="4276725"/>
          </a:xfrm>
          <a:prstGeom prst="roundRect">
            <a:avLst>
              <a:gd name="adj" fmla="val 18502"/>
            </a:avLst>
          </a:prstGeom>
          <a:solidFill>
            <a:srgbClr val="111111"/>
          </a:solidFill>
          <a:ln w="14288">
            <a:solidFill>
              <a:srgbClr val="C4BBAF">
                <a:alpha val="14000"/>
              </a:srgbClr>
            </a:solidFill>
            <a:prstDash val="solid"/>
          </a:ln>
          <a:effectLst>
            <a:outerShdw blurRad="685800" dist="266700" dir="5400000" algn="bl" rotWithShape="0">
              <a:srgbClr val="000000">
                <a:alpha val="6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787033" y="3605213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08060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139333" y="3500438"/>
            <a:ext cx="2133600" cy="4248150"/>
          </a:xfrm>
          <a:prstGeom prst="roundRect">
            <a:avLst>
              <a:gd name="adj" fmla="val 18304"/>
            </a:avLst>
          </a:prstGeom>
          <a:solidFill>
            <a:srgbClr val="F0EB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5139333" y="3500438"/>
            <a:ext cx="2133600" cy="1409700"/>
          </a:xfrm>
          <a:prstGeom prst="rect">
            <a:avLst/>
          </a:prstGeom>
          <a:gradFill rotWithShape="1">
            <a:gsLst>
              <a:gs pos="0">
                <a:srgbClr val="2E2010">
                  <a:alpha val="100000"/>
                </a:srgbClr>
              </a:gs>
              <a:gs pos="100000">
                <a:srgbClr val="6B4822">
                  <a:alpha val="100000"/>
                </a:srgbClr>
              </a:gs>
            </a:gsLst>
            <a:lin ang="3900000" scaled="0"/>
          </a:gra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139333" y="3500438"/>
            <a:ext cx="2133600" cy="1409700"/>
          </a:xfrm>
          <a:prstGeom prst="rect">
            <a:avLst/>
          </a:prstGeom>
          <a:gradFill rotWithShape="1">
            <a:gsLst>
              <a:gs pos="0">
                <a:srgbClr val="000000">
                  <a:alpha val="72000"/>
                </a:srgbClr>
              </a:gs>
              <a:gs pos="100000">
                <a:srgbClr val="000000">
                  <a:alpha val="4000"/>
                </a:srgbClr>
              </a:gs>
            </a:gsLst>
            <a:lin ang="16200000" scaled="0"/>
          </a:gra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272683" y="3633788"/>
            <a:ext cx="1196876" cy="209550"/>
          </a:xfrm>
          <a:prstGeom prst="roundRect">
            <a:avLst>
              <a:gd name="adj" fmla="val 18182"/>
            </a:avLst>
          </a:prstGeom>
          <a:solidFill>
            <a:srgbClr val="FFFFFF">
              <a:alpha val="17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358408" y="3671888"/>
            <a:ext cx="11016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75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À VENIR · 14 JUIL.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272683" y="4491038"/>
            <a:ext cx="11172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Barcelone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139333" y="4910138"/>
            <a:ext cx="2133600" cy="3905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5139333" y="5291138"/>
            <a:ext cx="21336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272683" y="4995863"/>
            <a:ext cx="2286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5501283" y="5000625"/>
            <a:ext cx="35212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B8B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 22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3410" y="5091113"/>
            <a:ext cx="1286173" cy="19050"/>
          </a:xfrm>
          <a:prstGeom prst="roundRect">
            <a:avLst>
              <a:gd name="adj" fmla="val 50000"/>
            </a:avLst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853410" y="5091113"/>
            <a:ext cx="707380" cy="19050"/>
          </a:xfrm>
          <a:prstGeom prst="rect">
            <a:avLst/>
          </a:prstGeom>
          <a:solidFill>
            <a:srgbClr val="1C17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5139333" y="5300663"/>
            <a:ext cx="2133600" cy="15335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139333" y="5805488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272683" y="5457825"/>
            <a:ext cx="295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5577483" y="5395913"/>
            <a:ext cx="17183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 Paris → Barcelone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77483" y="5576888"/>
            <a:ext cx="17183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B8B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Calé · 5/8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5139333" y="6319838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272683" y="5972175"/>
            <a:ext cx="295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5577483" y="5910263"/>
            <a:ext cx="17183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Hôtel Barceloneta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77483" y="6091238"/>
            <a:ext cx="17183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B8B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cours · 3/5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5272683" y="6486525"/>
            <a:ext cx="295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5577483" y="6424613"/>
            <a:ext cx="17183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Location voiture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577483" y="6605588"/>
            <a:ext cx="17183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B8B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Manquant · 0/5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5047231" y="7953375"/>
            <a:ext cx="231765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kern="0" spc="150" dirty="0">
                <a:solidFill>
                  <a:srgbClr val="F5F0E8">
                    <a:alpha val="4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5047231" y="8201025"/>
            <a:ext cx="231765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5F0E8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Vue d'ensemble du voyage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896820" y="3486150"/>
            <a:ext cx="2162175" cy="4276725"/>
          </a:xfrm>
          <a:prstGeom prst="roundRect">
            <a:avLst>
              <a:gd name="adj" fmla="val 18502"/>
            </a:avLst>
          </a:prstGeom>
          <a:solidFill>
            <a:srgbClr val="111111"/>
          </a:solidFill>
          <a:ln w="14288">
            <a:solidFill>
              <a:srgbClr val="C4BBAF">
                <a:alpha val="14000"/>
              </a:srgbClr>
            </a:solidFill>
            <a:prstDash val="solid"/>
          </a:ln>
          <a:effectLst>
            <a:outerShdw blurRad="685800" dist="266700" dir="5400000" algn="bl" rotWithShape="0">
              <a:srgbClr val="000000">
                <a:alpha val="6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8558808" y="3605213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08060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7911108" y="3500438"/>
            <a:ext cx="2133600" cy="4248150"/>
          </a:xfrm>
          <a:prstGeom prst="roundRect">
            <a:avLst>
              <a:gd name="adj" fmla="val 1830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7911108" y="3500438"/>
            <a:ext cx="2133600" cy="1390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7911108" y="4881563"/>
            <a:ext cx="21336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8044458" y="3919537"/>
            <a:ext cx="20535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44458" y="4110038"/>
            <a:ext cx="20535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Paris → Barcelone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044458" y="4414838"/>
            <a:ext cx="2419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8238827" y="4510088"/>
            <a:ext cx="1434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8334673" y="4510088"/>
            <a:ext cx="18052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496151" y="4519613"/>
            <a:ext cx="5954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validés</a:t>
            </a:r>
            <a:endParaRPr lang="en-US" sz="1275" dirty="0"/>
          </a:p>
        </p:txBody>
      </p:sp>
      <p:sp>
        <p:nvSpPr>
          <p:cNvPr id="44" name="Shape 42"/>
          <p:cNvSpPr/>
          <p:nvPr/>
        </p:nvSpPr>
        <p:spPr>
          <a:xfrm>
            <a:off x="7911108" y="5500688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8044458" y="4995863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8061573" y="5005388"/>
            <a:ext cx="175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73058" y="4986338"/>
            <a:ext cx="17145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strike="sngStrike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Billet confirmé (n° réservation)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911108" y="5910263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8044458" y="5614988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8061573" y="5624513"/>
            <a:ext cx="175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273058" y="5605463"/>
            <a:ext cx="16580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strike="sngStrike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Check-in en ligne fait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911108" y="6529388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8044458" y="6024563"/>
            <a:ext cx="161925" cy="161925"/>
          </a:xfrm>
          <a:prstGeom prst="roundRect">
            <a:avLst>
              <a:gd name="adj" fmla="val 17647"/>
            </a:avLst>
          </a:prstGeom>
          <a:ln w="14288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8301633" y="6015038"/>
            <a:ext cx="16859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Visas &amp; autorisations vérifiés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911108" y="7148513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8044458" y="6643688"/>
            <a:ext cx="161925" cy="161925"/>
          </a:xfrm>
          <a:prstGeom prst="roundRect">
            <a:avLst>
              <a:gd name="adj" fmla="val 17647"/>
            </a:avLst>
          </a:prstGeom>
          <a:ln w="14288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8301633" y="6634163"/>
            <a:ext cx="16859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Autorisation sortie du territoire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044458" y="7262813"/>
            <a:ext cx="161925" cy="161925"/>
          </a:xfrm>
          <a:prstGeom prst="roundRect">
            <a:avLst>
              <a:gd name="adj" fmla="val 17647"/>
            </a:avLst>
          </a:prstGeom>
          <a:ln w="14288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8301633" y="7253288"/>
            <a:ext cx="16859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Heure de présentation aéroport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967982" y="7953375"/>
            <a:ext cx="20197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kern="0" spc="150" dirty="0">
                <a:solidFill>
                  <a:srgbClr val="F5F0E8">
                    <a:alpha val="4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CHECKLIST</a:t>
            </a:r>
            <a:endParaRPr lang="en-US" sz="1275" dirty="0"/>
          </a:p>
        </p:txBody>
      </p:sp>
      <p:sp>
        <p:nvSpPr>
          <p:cNvPr id="61" name="Text 59"/>
          <p:cNvSpPr/>
          <p:nvPr/>
        </p:nvSpPr>
        <p:spPr>
          <a:xfrm>
            <a:off x="7967982" y="8201025"/>
            <a:ext cx="20197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5F0E8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Auto-générée, éditable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10834688" y="3486150"/>
            <a:ext cx="2162175" cy="4276725"/>
          </a:xfrm>
          <a:prstGeom prst="roundRect">
            <a:avLst>
              <a:gd name="adj" fmla="val 18502"/>
            </a:avLst>
          </a:prstGeom>
          <a:solidFill>
            <a:srgbClr val="111111"/>
          </a:solidFill>
          <a:ln w="14288">
            <a:solidFill>
              <a:srgbClr val="C4BBAF">
                <a:alpha val="14000"/>
              </a:srgbClr>
            </a:solidFill>
            <a:prstDash val="solid"/>
          </a:ln>
          <a:effectLst>
            <a:outerShdw blurRad="685800" dist="266700" dir="5400000" algn="bl" rotWithShape="0">
              <a:srgbClr val="000000">
                <a:alpha val="6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3" name="Shape 61"/>
          <p:cNvSpPr/>
          <p:nvPr/>
        </p:nvSpPr>
        <p:spPr>
          <a:xfrm>
            <a:off x="11496675" y="3605213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08060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10848975" y="3500438"/>
            <a:ext cx="2133600" cy="4248150"/>
          </a:xfrm>
          <a:prstGeom prst="roundRect">
            <a:avLst>
              <a:gd name="adj" fmla="val 18304"/>
            </a:avLst>
          </a:prstGeom>
          <a:solidFill>
            <a:srgbClr val="F0EB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10848975" y="3500438"/>
            <a:ext cx="2133600" cy="1352550"/>
          </a:xfrm>
          <a:prstGeom prst="rect">
            <a:avLst/>
          </a:prstGeom>
          <a:solidFill>
            <a:srgbClr val="1C17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10982325" y="3919537"/>
            <a:ext cx="205359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50" dirty="0">
                <a:solidFill>
                  <a:srgbClr val="F5F0E8">
                    <a:alpha val="3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PARTAGÉ PAR MARIE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10982325" y="4110038"/>
            <a:ext cx="20535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i="1" dirty="0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Barcelone</a:t>
            </a:r>
            <a:endParaRPr lang="en-US" sz="2850" dirty="0"/>
          </a:p>
        </p:txBody>
      </p:sp>
      <p:sp>
        <p:nvSpPr>
          <p:cNvPr id="68" name="Text 66"/>
          <p:cNvSpPr/>
          <p:nvPr/>
        </p:nvSpPr>
        <p:spPr>
          <a:xfrm>
            <a:off x="10982325" y="4510088"/>
            <a:ext cx="205359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5F0E8">
                    <a:alpha val="3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→ 21 juillet 2026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10848975" y="4852988"/>
            <a:ext cx="21336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Shape 68"/>
          <p:cNvSpPr/>
          <p:nvPr/>
        </p:nvSpPr>
        <p:spPr>
          <a:xfrm>
            <a:off x="10848975" y="5529263"/>
            <a:ext cx="21336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Text 69"/>
          <p:cNvSpPr/>
          <p:nvPr/>
        </p:nvSpPr>
        <p:spPr>
          <a:xfrm>
            <a:off x="10982325" y="4967288"/>
            <a:ext cx="38129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2250" dirty="0"/>
          </a:p>
        </p:txBody>
      </p:sp>
      <p:sp>
        <p:nvSpPr>
          <p:cNvPr id="72" name="Text 70"/>
          <p:cNvSpPr/>
          <p:nvPr/>
        </p:nvSpPr>
        <p:spPr>
          <a:xfrm>
            <a:off x="11315998" y="5024438"/>
            <a:ext cx="5508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 22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0982325" y="5395913"/>
            <a:ext cx="1866900" cy="19050"/>
          </a:xfrm>
          <a:prstGeom prst="roundRect">
            <a:avLst>
              <a:gd name="adj" fmla="val 50000"/>
            </a:avLst>
          </a:prstGeom>
          <a:solidFill>
            <a:srgbClr val="000000">
              <a:alpha val="7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Shape 72"/>
          <p:cNvSpPr/>
          <p:nvPr/>
        </p:nvSpPr>
        <p:spPr>
          <a:xfrm>
            <a:off x="10982325" y="5395913"/>
            <a:ext cx="839986" cy="19050"/>
          </a:xfrm>
          <a:prstGeom prst="rect">
            <a:avLst/>
          </a:prstGeom>
          <a:solidFill>
            <a:srgbClr val="1C17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Shape 73"/>
          <p:cNvSpPr/>
          <p:nvPr/>
        </p:nvSpPr>
        <p:spPr>
          <a:xfrm>
            <a:off x="10848975" y="5538788"/>
            <a:ext cx="2133600" cy="13144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Shape 74"/>
          <p:cNvSpPr/>
          <p:nvPr/>
        </p:nvSpPr>
        <p:spPr>
          <a:xfrm>
            <a:off x="10848975" y="5538788"/>
            <a:ext cx="2133600" cy="266700"/>
          </a:xfrm>
          <a:prstGeom prst="rect">
            <a:avLst/>
          </a:prstGeom>
          <a:solidFill>
            <a:srgbClr val="000000">
              <a:alpha val="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Text 75"/>
          <p:cNvSpPr/>
          <p:nvPr/>
        </p:nvSpPr>
        <p:spPr>
          <a:xfrm>
            <a:off x="10982325" y="5605463"/>
            <a:ext cx="205359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13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</a:t>
            </a:r>
            <a:endParaRPr lang="en-US" sz="825" dirty="0"/>
          </a:p>
        </p:txBody>
      </p:sp>
      <p:sp>
        <p:nvSpPr>
          <p:cNvPr id="78" name="Shape 76"/>
          <p:cNvSpPr/>
          <p:nvPr/>
        </p:nvSpPr>
        <p:spPr>
          <a:xfrm>
            <a:off x="10848975" y="6148388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Shape 77"/>
          <p:cNvSpPr/>
          <p:nvPr/>
        </p:nvSpPr>
        <p:spPr>
          <a:xfrm>
            <a:off x="10982325" y="5910263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Text 78"/>
          <p:cNvSpPr/>
          <p:nvPr/>
        </p:nvSpPr>
        <p:spPr>
          <a:xfrm>
            <a:off x="10999440" y="5919788"/>
            <a:ext cx="175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1210925" y="5891213"/>
            <a:ext cx="10941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strike="sngStrike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Billets confirmés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10848975" y="6500813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Shape 81"/>
          <p:cNvSpPr/>
          <p:nvPr/>
        </p:nvSpPr>
        <p:spPr>
          <a:xfrm>
            <a:off x="10982325" y="6248400"/>
            <a:ext cx="161925" cy="161925"/>
          </a:xfrm>
          <a:prstGeom prst="roundRect">
            <a:avLst>
              <a:gd name="adj" fmla="val 17647"/>
            </a:avLst>
          </a:prstGeom>
          <a:ln w="14288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Text 82"/>
          <p:cNvSpPr/>
          <p:nvPr/>
        </p:nvSpPr>
        <p:spPr>
          <a:xfrm>
            <a:off x="11239500" y="6243638"/>
            <a:ext cx="11601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Check-in en ligne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10982325" y="6600825"/>
            <a:ext cx="161925" cy="161925"/>
          </a:xfrm>
          <a:prstGeom prst="roundRect">
            <a:avLst>
              <a:gd name="adj" fmla="val 17647"/>
            </a:avLst>
          </a:prstGeom>
          <a:ln w="14288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6" name="Text 84"/>
          <p:cNvSpPr/>
          <p:nvPr/>
        </p:nvSpPr>
        <p:spPr>
          <a:xfrm>
            <a:off x="11239500" y="6596063"/>
            <a:ext cx="14354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Heure aéroport calée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10848975" y="7319963"/>
            <a:ext cx="2133600" cy="428625"/>
          </a:xfrm>
          <a:prstGeom prst="rect">
            <a:avLst/>
          </a:prstGeom>
          <a:solidFill>
            <a:srgbClr val="F0EB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8" name="Shape 86"/>
          <p:cNvSpPr/>
          <p:nvPr/>
        </p:nvSpPr>
        <p:spPr>
          <a:xfrm>
            <a:off x="10848975" y="7319963"/>
            <a:ext cx="21336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9" name="Text 87"/>
          <p:cNvSpPr/>
          <p:nvPr/>
        </p:nvSpPr>
        <p:spPr>
          <a:xfrm>
            <a:off x="10944225" y="7405688"/>
            <a:ext cx="19431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38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 · synchronisé en temps réel avec Marie</a:t>
            </a:r>
            <a:endParaRPr lang="en-US" sz="825" dirty="0"/>
          </a:p>
        </p:txBody>
      </p:sp>
      <p:sp>
        <p:nvSpPr>
          <p:cNvPr id="90" name="Text 88"/>
          <p:cNvSpPr/>
          <p:nvPr/>
        </p:nvSpPr>
        <p:spPr>
          <a:xfrm>
            <a:off x="10543877" y="7953375"/>
            <a:ext cx="274379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kern="0" spc="150" dirty="0">
                <a:solidFill>
                  <a:srgbClr val="F5F0E8">
                    <a:alpha val="4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VUE PARTENAIRE</a:t>
            </a:r>
            <a:endParaRPr lang="en-US" sz="1275" dirty="0"/>
          </a:p>
        </p:txBody>
      </p:sp>
      <p:sp>
        <p:nvSpPr>
          <p:cNvPr id="91" name="Text 89"/>
          <p:cNvSpPr/>
          <p:nvPr/>
        </p:nvSpPr>
        <p:spPr>
          <a:xfrm>
            <a:off x="10543877" y="8201025"/>
            <a:ext cx="27437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5F0E8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Lien web · sans téléchargement</a:t>
            </a:r>
            <a:endParaRPr lang="en-US" sz="1350" dirty="0"/>
          </a:p>
        </p:txBody>
      </p:sp>
      <p:sp>
        <p:nvSpPr>
          <p:cNvPr id="92" name="Shape 90"/>
          <p:cNvSpPr/>
          <p:nvPr/>
        </p:nvSpPr>
        <p:spPr>
          <a:xfrm>
            <a:off x="1143000" y="9315450"/>
            <a:ext cx="16002000" cy="9525"/>
          </a:xfrm>
          <a:prstGeom prst="rect">
            <a:avLst/>
          </a:prstGeom>
          <a:solidFill>
            <a:srgbClr val="C4BBAF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" name="Text 91"/>
          <p:cNvSpPr/>
          <p:nvPr/>
        </p:nvSpPr>
        <p:spPr>
          <a:xfrm>
            <a:off x="1143000" y="9515475"/>
            <a:ext cx="7364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88" dirty="0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16741676" y="9515475"/>
            <a:ext cx="4795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5F0E8">
                    <a:alpha val="1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 · 11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9" y="762000"/>
            <a:ext cx="995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C1714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5547479" y="800100"/>
            <a:ext cx="175727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1C1714">
                    <a:alpha val="2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MARCHÉ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23975"/>
            <a:ext cx="1760220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kern="0" spc="-37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Un marché immédiat, un espace libre.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4155281"/>
            <a:ext cx="474287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700" kern="0" spc="-300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3,5M</a:t>
            </a:r>
            <a:endParaRPr lang="en-US" sz="8700" dirty="0"/>
          </a:p>
        </p:txBody>
      </p:sp>
      <p:sp>
        <p:nvSpPr>
          <p:cNvPr id="6" name="Shape 4"/>
          <p:cNvSpPr/>
          <p:nvPr/>
        </p:nvSpPr>
        <p:spPr>
          <a:xfrm>
            <a:off x="1143000" y="5336381"/>
            <a:ext cx="304800" cy="14288"/>
          </a:xfrm>
          <a:prstGeom prst="rect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143000" y="5541169"/>
            <a:ext cx="444105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Familles CSP+ en France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43000" y="6379369"/>
            <a:ext cx="4441051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dirty="0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Foyers actifs avec enfants, revenus élevés, voyageurs réguliers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216700" y="2533650"/>
            <a:ext cx="9525" cy="6305550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988225" y="3945731"/>
            <a:ext cx="474287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700" kern="0" spc="-300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10M+</a:t>
            </a:r>
            <a:endParaRPr lang="en-US" sz="8700" dirty="0"/>
          </a:p>
        </p:txBody>
      </p:sp>
      <p:sp>
        <p:nvSpPr>
          <p:cNvPr id="11" name="Shape 9"/>
          <p:cNvSpPr/>
          <p:nvPr/>
        </p:nvSpPr>
        <p:spPr>
          <a:xfrm>
            <a:off x="6988225" y="5126831"/>
            <a:ext cx="304800" cy="14288"/>
          </a:xfrm>
          <a:prstGeom prst="rect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988225" y="5331619"/>
            <a:ext cx="444105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Voyages famille par an en France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988225" y="6169819"/>
            <a:ext cx="4441051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dirty="0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à 4 voyages par famille CSP+, avec une organisation à recréer à chaque fois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061924" y="2533650"/>
            <a:ext cx="9525" cy="6305550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2833449" y="3945731"/>
            <a:ext cx="474287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700" kern="0" spc="-300" dirty="0">
                <a:solidFill>
                  <a:srgbClr val="8D5B4C">
                    <a:alpha val="75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</a:t>
            </a:r>
            <a:endParaRPr lang="en-US" sz="8700" dirty="0"/>
          </a:p>
        </p:txBody>
      </p:sp>
      <p:sp>
        <p:nvSpPr>
          <p:cNvPr id="16" name="Shape 14"/>
          <p:cNvSpPr/>
          <p:nvPr/>
        </p:nvSpPr>
        <p:spPr>
          <a:xfrm>
            <a:off x="12833449" y="5126831"/>
            <a:ext cx="304800" cy="14288"/>
          </a:xfrm>
          <a:prstGeom prst="rect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2833449" y="5331619"/>
            <a:ext cx="444105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Solution dédiée sur le marché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833449" y="6169819"/>
            <a:ext cx="4441051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dirty="0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 TripIt, ni Google Sheets — aucun concurrent direct sur le segment famille CSP+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1C1714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535549" y="9420225"/>
            <a:ext cx="68565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714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 · 11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99506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C1714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4561344" y="800100"/>
            <a:ext cx="28420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1C1714">
                    <a:alpha val="2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FEUILLE DE ROUTE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23975"/>
            <a:ext cx="1760220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kern="0" spc="-37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Trois étapes vers la rétention long terme.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2381250"/>
            <a:ext cx="5334000" cy="28575"/>
          </a:xfrm>
          <a:prstGeom prst="rect">
            <a:avLst/>
          </a:prstGeom>
          <a:solidFill>
            <a:srgbClr val="1C17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77000" y="2381250"/>
            <a:ext cx="5334000" cy="28575"/>
          </a:xfrm>
          <a:prstGeom prst="rect">
            <a:avLst/>
          </a:prstGeom>
          <a:solidFill>
            <a:srgbClr val="1C1714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1811000" y="2381250"/>
            <a:ext cx="5334000" cy="28575"/>
          </a:xfrm>
          <a:prstGeom prst="rect">
            <a:avLst/>
          </a:prstGeom>
          <a:solidFill>
            <a:srgbClr val="1C1714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143000" y="2790825"/>
            <a:ext cx="1472952" cy="390525"/>
          </a:xfrm>
          <a:prstGeom prst="roundRect">
            <a:avLst>
              <a:gd name="adj" fmla="val 4878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276350" y="2838450"/>
            <a:ext cx="128245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V1 — MVP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30252" y="2847975"/>
            <a:ext cx="12672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75" dirty="0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Maintenant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43000" y="3371850"/>
            <a:ext cx="4545596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kern="0" spc="-22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Validation du comportement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143000" y="4400550"/>
            <a:ext cx="4545596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i="1" dirty="0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"Marie crée un voyage et partage le lien sans ouvrir ses Notes iPhone."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43000" y="5457825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D5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30834" y="5410200"/>
            <a:ext cx="31944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Création voyage + étapes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43000" y="5924550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D5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30834" y="5876925"/>
            <a:ext cx="308955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Checklists auto par type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43000" y="6391275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D5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30834" y="6343650"/>
            <a:ext cx="302603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 statut global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43000" y="6858000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D5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30834" y="6810375"/>
            <a:ext cx="33287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Partage partenaire par lien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6242000" y="2790825"/>
            <a:ext cx="9525" cy="6124575"/>
          </a:xfrm>
          <a:prstGeom prst="rect">
            <a:avLst/>
          </a:prstGeom>
          <a:solidFill>
            <a:srgbClr val="5C4742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937325" y="2790825"/>
            <a:ext cx="611237" cy="409575"/>
          </a:xfrm>
          <a:prstGeom prst="roundRect">
            <a:avLst>
              <a:gd name="adj" fmla="val 4651"/>
            </a:avLst>
          </a:prstGeom>
          <a:ln w="9525">
            <a:solidFill>
              <a:srgbClr val="1C171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080200" y="2847975"/>
            <a:ext cx="4016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62863" y="2857500"/>
            <a:ext cx="7871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75" dirty="0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mois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937325" y="3390900"/>
            <a:ext cx="4545596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kern="0" spc="-22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Rétention long terme</a:t>
            </a:r>
            <a:endParaRPr lang="en-US" sz="3150" dirty="0"/>
          </a:p>
        </p:txBody>
      </p:sp>
      <p:sp>
        <p:nvSpPr>
          <p:cNvPr id="26" name="Text 24"/>
          <p:cNvSpPr/>
          <p:nvPr/>
        </p:nvSpPr>
        <p:spPr>
          <a:xfrm>
            <a:off x="6937325" y="4419600"/>
            <a:ext cx="485452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i="1" dirty="0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"Allset s'adapte à ma famille."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6937325" y="5086350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25159" y="5038725"/>
            <a:ext cx="288082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Templates réutilisables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6937325" y="5553075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225159" y="5505450"/>
            <a:ext cx="27920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Assignation de tâches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6937325" y="6019800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25159" y="5972175"/>
            <a:ext cx="346215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Profil famille + rappels J-30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2036326" y="2790825"/>
            <a:ext cx="9525" cy="6124575"/>
          </a:xfrm>
          <a:prstGeom prst="rect">
            <a:avLst/>
          </a:prstGeom>
          <a:solidFill>
            <a:srgbClr val="5C4742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12731651" y="2790825"/>
            <a:ext cx="617786" cy="409575"/>
          </a:xfrm>
          <a:prstGeom prst="roundRect">
            <a:avLst>
              <a:gd name="adj" fmla="val 4651"/>
            </a:avLst>
          </a:prstGeom>
          <a:ln w="9525">
            <a:solidFill>
              <a:srgbClr val="1C171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12874526" y="2847975"/>
            <a:ext cx="4082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V3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463736" y="2857500"/>
            <a:ext cx="1212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75" dirty="0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12–18 mois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2731651" y="3390900"/>
            <a:ext cx="4545596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kern="0" spc="-22" dirty="0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Automatisation poussée</a:t>
            </a:r>
            <a:endParaRPr lang="en-US" sz="3150" dirty="0"/>
          </a:p>
        </p:txBody>
      </p:sp>
      <p:sp>
        <p:nvSpPr>
          <p:cNvPr id="38" name="Text 36"/>
          <p:cNvSpPr/>
          <p:nvPr/>
        </p:nvSpPr>
        <p:spPr>
          <a:xfrm>
            <a:off x="12731651" y="4419600"/>
            <a:ext cx="4545596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i="1" dirty="0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"Allset anticipe — je n'ai presque rien à saisir."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2731651" y="5476875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3019484" y="5429250"/>
            <a:ext cx="297462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 email / PDF auto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2731651" y="5943600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3019484" y="5895975"/>
            <a:ext cx="186319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 veille J-1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2731651" y="6410325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3019484" y="6362700"/>
            <a:ext cx="332382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Réactivation voyage passé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1C1714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6607730" y="9420225"/>
            <a:ext cx="6134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714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· 11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553950" y="4552950"/>
            <a:ext cx="7639050" cy="7639050"/>
          </a:xfrm>
          <a:prstGeom prst="ellipse">
            <a:avLst/>
          </a:prstGeom>
          <a:ln w="9525">
            <a:solidFill>
              <a:srgbClr val="C4BBA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4077950" y="6076950"/>
            <a:ext cx="5353050" cy="5353050"/>
          </a:xfrm>
          <a:prstGeom prst="ellipse">
            <a:avLst/>
          </a:prstGeom>
          <a:ln w="9525">
            <a:solidFill>
              <a:srgbClr val="8D5B4C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143000" y="762000"/>
            <a:ext cx="99506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5F0E8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175385" y="800100"/>
            <a:ext cx="10458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645569"/>
            <a:ext cx="12573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75" dirty="0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L'AMBITION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3321844"/>
            <a:ext cx="11772900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0" i="1" kern="0" spc="-75" dirty="0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"Allset devient le carnet de voyage de toutes les familles."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1143000" y="5493544"/>
            <a:ext cx="381000" cy="14288"/>
          </a:xfrm>
          <a:prstGeom prst="rect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143000" y="6003131"/>
            <a:ext cx="37386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F5F0E8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6393656"/>
            <a:ext cx="3500752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2100" dirty="0">
                <a:solidFill>
                  <a:srgbClr val="F5F0E8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Freemium · abonnement famille B2B2C agences de voyage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303788" y="6003131"/>
            <a:ext cx="48147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F5F0E8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VIRALITÉ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788" y="6393656"/>
            <a:ext cx="4508346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2100" dirty="0">
                <a:solidFill>
                  <a:srgbClr val="F5F0E8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Chaque lien partagé est une invitation — le partenaire devient utilisateur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442823" y="6003131"/>
            <a:ext cx="23431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F5F0E8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442823" y="6393656"/>
            <a:ext cx="2206377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2100" u="sng" dirty="0">
                <a:solidFill>
                  <a:srgbClr val="0000EE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[email protected] </a:t>
            </a:r>
            <a:r>
              <a:rPr lang="en-US" sz="2100" dirty="0">
                <a:solidFill>
                  <a:srgbClr val="F5F0E8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allset.app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C4BBAF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692711" y="9420225"/>
            <a:ext cx="5284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0E8">
                    <a:alpha val="1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· 11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1217</Words>
  <Application>Microsoft Macintosh PowerPoint</Application>
  <PresentationFormat>Personnalisé</PresentationFormat>
  <Paragraphs>242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Cormorant Garamond</vt:lpstr>
      <vt:lpstr>DM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Ando RAKOTOARIMANANA</cp:lastModifiedBy>
  <cp:revision>5</cp:revision>
  <dcterms:created xsi:type="dcterms:W3CDTF">2026-06-22T09:46:36Z</dcterms:created>
  <dcterms:modified xsi:type="dcterms:W3CDTF">2026-06-24T08:07:48Z</dcterms:modified>
</cp:coreProperties>
</file>