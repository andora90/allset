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9" r:id="rId7"/>
    <p:sldId id="265" r:id="rId8"/>
    <p:sldId id="267" r:id="rId9"/>
    <p:sldId id="266" r:id="rId10"/>
    <p:sldId id="261" r:id="rId11"/>
    <p:sldId id="262" r:id="rId12"/>
    <p:sldId id="263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D3326-947F-4818-90DC-53C1DF50856C}" v="30" dt="2026-06-26T08:56:32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98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50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Allset repense l'organisation du voyage famille — du problème concret à la solution évidente. Pitch investisseurs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à 4 voyages par an. Notes iPhone + Google Sheets + emails perdus. Zéro structure, tout repart de zéro. Et c'est toujours Marie qui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Marie, 35-45 ans, CSP+, cadre active, 2 enfants. Chief Travel Officer du foyer par défaut — rôle non choisi, non partagé. Irritants : repartir de zéro, tout dans la tête, ne peut pas déléguer.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irritants structurels. 1/ Repartir de zéro — l'ossature n'est jamais mémorisée. 2/ Tout dans la tête — le partenaire n'a aucune visibilité. 3/ Impossible à déléguer — partager crée plus de friction qu'il n'en résout.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Allset : un moule de voyage réutilisable. Il génère automatiquement les checklists par type d'étape. Un seul écran pour l'état de l'organisation. Un lien pour partager sans téléchargement.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irritants structurels. 1/ Repartir de zéro — l'ossature n'est jamais mémorisée. 2/ Tout dans la tête — le partenaire n'a aucune visibilité. 3/ Impossible à déléguer — partager crée plus de friction qu'il n'en résout.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MVP : valider que Marie utilise Allset à la place de ses Notes iPhone. V2 : rétention avec templates réutilisables et délégation. V3 : automatisation poussée, import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88BB0-2764-1278-055E-E7D816319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BC983-4924-8869-284B-E86DF231C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83707-023C-76C6-6C05-5DF7A3830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L'ambition : Allset devient la référence pour l'organisation famille en voyage. Modèle freemium, viralité organique — chaque lien partagé est une invitation.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80A0E-91C4-ABC7-9F2A-BAFBF2127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089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L'ambition : Allset devient la référence pour l'organisation famille en voyage. Modèle freemium, viralité organique — chaque lien partagé est une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gestes : créer le voyage, laisser Allset générer les checklists automatiquement, partager en un lien. Valeur dès la première étape — sans template, sans configuration préalable.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moment aha : Marie ajoute 'Vol Paris → Barcelone'. Allset génère instantanément 8 items — dont 2 qu'elle aurait oubliés. Valeur perçue dès la première étape, sans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écrans : le dashboard voyage avec statut de chaque étape, la checklist détaillée auto-générée, et la vue partenaire accessible par lien — sans téléchargement.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ando-rakotoarimanan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39f0219-601d-4a3f-87fe-5e421a9e1b26.claudeusercontent.com/cdn-cgi/l/email-protecti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ando-rakotoarimanana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82450" y="847725"/>
            <a:ext cx="8591550" cy="8591550"/>
          </a:xfrm>
          <a:prstGeom prst="ellipse">
            <a:avLst/>
          </a:prstGeom>
          <a:ln w="9525">
            <a:solidFill>
              <a:srgbClr val="C4BBA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3" name="Shape 1"/>
          <p:cNvSpPr/>
          <p:nvPr/>
        </p:nvSpPr>
        <p:spPr>
          <a:xfrm>
            <a:off x="13506450" y="2085975"/>
            <a:ext cx="6115050" cy="6115050"/>
          </a:xfrm>
          <a:prstGeom prst="ellipse">
            <a:avLst/>
          </a:prstGeom>
          <a:ln w="9525">
            <a:solidFill>
              <a:srgbClr val="8D5B4C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5" name="Text 3"/>
          <p:cNvSpPr/>
          <p:nvPr/>
        </p:nvSpPr>
        <p:spPr>
          <a:xfrm>
            <a:off x="14326046" y="809625"/>
            <a:ext cx="31008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225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CONFIDENTIEL · 2026</a:t>
            </a:r>
            <a:endParaRPr lang="fr-FR" sz="1800" noProof="1"/>
          </a:p>
        </p:txBody>
      </p:sp>
      <p:sp>
        <p:nvSpPr>
          <p:cNvPr id="6" name="Text 4"/>
          <p:cNvSpPr/>
          <p:nvPr/>
        </p:nvSpPr>
        <p:spPr>
          <a:xfrm>
            <a:off x="1143000" y="2821781"/>
            <a:ext cx="10477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75" noProof="1">
                <a:solidFill>
                  <a:srgbClr val="C4BBAF">
                    <a:alpha val="5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PRESENTATION PROJET</a:t>
            </a:r>
            <a:endParaRPr lang="fr-FR" sz="1800" noProof="1"/>
          </a:p>
        </p:txBody>
      </p:sp>
      <p:sp>
        <p:nvSpPr>
          <p:cNvPr id="7" name="Text 5"/>
          <p:cNvSpPr/>
          <p:nvPr/>
        </p:nvSpPr>
        <p:spPr>
          <a:xfrm>
            <a:off x="1142999" y="3498056"/>
            <a:ext cx="15291487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8400" i="1" kern="0" spc="-75" noProof="1">
                <a:solidFill>
                  <a:srgbClr val="F5F0E8"/>
                </a:solidFill>
                <a:latin typeface="Playfair Display" panose="00000500000000000000" pitchFamily="2" charset="0"/>
                <a:ea typeface="Cormorant Garamond" pitchFamily="34" charset="-122"/>
                <a:cs typeface="Cormorant Garamond" pitchFamily="34" charset="-120"/>
              </a:rPr>
              <a:t>Le voyage famille, réinventé</a:t>
            </a:r>
            <a:endParaRPr lang="fr-FR" sz="8400" noProof="1">
              <a:latin typeface="Playfair Display" panose="000005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43000" y="6050756"/>
            <a:ext cx="4953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1143000" y="6484144"/>
            <a:ext cx="1236345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fr-FR" sz="2400" noProof="1">
                <a:solidFill>
                  <a:srgbClr val="F5F0E8">
                    <a:alpha val="4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Application mobile d'organisation voyage pour les familles actives.</a:t>
            </a:r>
            <a:endParaRPr lang="fr-FR" sz="2400" noProof="1"/>
          </a:p>
        </p:txBody>
      </p:sp>
      <p:sp>
        <p:nvSpPr>
          <p:cNvPr id="10" name="Shape 8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1" name="Text 9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12" name="Text 10"/>
          <p:cNvSpPr/>
          <p:nvPr/>
        </p:nvSpPr>
        <p:spPr>
          <a:xfrm>
            <a:off x="16607730" y="9420225"/>
            <a:ext cx="613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11</a:t>
            </a:r>
            <a:endParaRPr lang="fr-FR" sz="1800" noProof="1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D49BE1B4-52BA-4FC3-D91E-289AC0048A62}"/>
              </a:ext>
            </a:extLst>
          </p:cNvPr>
          <p:cNvSpPr/>
          <p:nvPr/>
        </p:nvSpPr>
        <p:spPr>
          <a:xfrm>
            <a:off x="1194737" y="7648575"/>
            <a:ext cx="10221628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75000"/>
              </a:lnSpc>
            </a:pPr>
            <a:r>
              <a:rPr lang="fr-FR" sz="2200" b="1" noProof="1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 Ando Rakotoarimanana / </a:t>
            </a:r>
            <a:r>
              <a:rPr lang="fr-FR" sz="2200" b="1" noProof="1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/>
              </a:rPr>
              <a:t>Linkedin</a:t>
            </a:r>
            <a:endParaRPr lang="fr-FR" sz="2200" b="1" noProof="1">
              <a:solidFill>
                <a:schemeClr val="bg1"/>
              </a:solidFill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55CBA8E-C0A0-595A-98F2-8A8CC9CF22FB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chemeClr val="bg1">
                    <a:lumMod val="85000"/>
                  </a:scheme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5">
            <a:extLst>
              <a:ext uri="{FF2B5EF4-FFF2-40B4-BE49-F238E27FC236}">
                <a16:creationId xmlns:a16="http://schemas.microsoft.com/office/drawing/2014/main" id="{09D398AF-EE8F-A91C-6354-048EFBF49ACB}"/>
              </a:ext>
            </a:extLst>
          </p:cNvPr>
          <p:cNvSpPr/>
          <p:nvPr/>
        </p:nvSpPr>
        <p:spPr>
          <a:xfrm>
            <a:off x="1142999" y="3498056"/>
            <a:ext cx="16440666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8400" i="1" kern="0" spc="-75" noProof="1">
                <a:solidFill>
                  <a:srgbClr val="F5F0E8"/>
                </a:solidFill>
                <a:latin typeface="Playfair Display" panose="00000500000000000000" pitchFamily="2" charset="0"/>
                <a:ea typeface="Cormorant Garamond" pitchFamily="34" charset="-122"/>
                <a:cs typeface="Cormorant Garamond" pitchFamily="34" charset="-120"/>
              </a:rPr>
              <a:t>Elle recommence à zéro, à chaque voyage</a:t>
            </a:r>
            <a:endParaRPr lang="fr-FR" sz="8400" noProof="1">
              <a:latin typeface="Playfair Display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243423" y="800100"/>
            <a:ext cx="20917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PROBLÈME</a:t>
            </a:r>
            <a:endParaRPr lang="fr-FR" sz="1800" noProof="1"/>
          </a:p>
        </p:txBody>
      </p:sp>
      <p:sp>
        <p:nvSpPr>
          <p:cNvPr id="9" name="Shape 7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0" name="Text 8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11" name="Text 9"/>
          <p:cNvSpPr/>
          <p:nvPr/>
        </p:nvSpPr>
        <p:spPr>
          <a:xfrm>
            <a:off x="16549687" y="9420225"/>
            <a:ext cx="6715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11</a:t>
            </a:r>
            <a:endParaRPr lang="fr-FR" sz="1800" noProof="1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93F353E-79AF-2B71-D370-9C652796CB35}"/>
              </a:ext>
            </a:extLst>
          </p:cNvPr>
          <p:cNvSpPr/>
          <p:nvPr/>
        </p:nvSpPr>
        <p:spPr>
          <a:xfrm>
            <a:off x="1143000" y="2821781"/>
            <a:ext cx="10477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fr-FR" kern="0" spc="375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— LE CONSTAT</a:t>
            </a:r>
            <a:endParaRPr lang="fr-FR" noProof="1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A89A6565-E065-C311-F6F8-75F88EE9F1E4}"/>
              </a:ext>
            </a:extLst>
          </p:cNvPr>
          <p:cNvSpPr/>
          <p:nvPr/>
        </p:nvSpPr>
        <p:spPr>
          <a:xfrm>
            <a:off x="1143000" y="6050756"/>
            <a:ext cx="4953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0E682B9E-5A16-F743-3EA2-FF8025D7AA6A}"/>
              </a:ext>
            </a:extLst>
          </p:cNvPr>
          <p:cNvSpPr/>
          <p:nvPr/>
        </p:nvSpPr>
        <p:spPr>
          <a:xfrm>
            <a:off x="1143000" y="6484144"/>
            <a:ext cx="8353926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200" b="0" i="0" u="none" strike="noStrike" kern="1200" cap="none" spc="0" normalizeH="0" baseline="0" noProof="1">
                <a:ln>
                  <a:noFill/>
                </a:ln>
                <a:solidFill>
                  <a:srgbClr val="F5F0E8">
                    <a:alpha val="45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Marie porte seule l'organisation complète de chaque voyage — dans sa tête, sur des Notes iPhone, un Google Sheet recrée à chaque séjour. Trois outils, zéro structure, aucune possibilité de déléguer.</a:t>
            </a:r>
            <a:endParaRPr kumimoji="0" lang="fr-FR" sz="2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2AD1325-7AFD-DB90-A815-42D598D6FCF1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chemeClr val="bg1">
                    <a:lumMod val="85000"/>
                  </a:scheme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420529" y="800100"/>
            <a:ext cx="18969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PERSONA</a:t>
            </a:r>
            <a:endParaRPr lang="fr-FR" sz="1800" noProof="1"/>
          </a:p>
        </p:txBody>
      </p:sp>
      <p:sp>
        <p:nvSpPr>
          <p:cNvPr id="5" name="Text 3"/>
          <p:cNvSpPr/>
          <p:nvPr/>
        </p:nvSpPr>
        <p:spPr>
          <a:xfrm>
            <a:off x="704947" y="3300672"/>
            <a:ext cx="87534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75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PARENT ORCHSTRATEUR</a:t>
            </a:r>
            <a:endParaRPr lang="fr-FR" sz="1800" noProof="1"/>
          </a:p>
        </p:txBody>
      </p:sp>
      <p:sp>
        <p:nvSpPr>
          <p:cNvPr id="6" name="Text 4"/>
          <p:cNvSpPr/>
          <p:nvPr/>
        </p:nvSpPr>
        <p:spPr>
          <a:xfrm>
            <a:off x="704947" y="3734418"/>
            <a:ext cx="875346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fr-FR" sz="4000" i="1" kern="0" spc="-75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</a:rPr>
              <a:t>Béatrix, Sylvie</a:t>
            </a:r>
            <a:endParaRPr lang="fr-FR" sz="4000" noProof="1"/>
          </a:p>
        </p:txBody>
      </p:sp>
      <p:sp>
        <p:nvSpPr>
          <p:cNvPr id="7" name="Text 5"/>
          <p:cNvSpPr/>
          <p:nvPr/>
        </p:nvSpPr>
        <p:spPr>
          <a:xfrm>
            <a:off x="704947" y="4775653"/>
            <a:ext cx="8196422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fr-FR" sz="225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35–45 ans · CSP+ · Cadres actives · 2 enfants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fr-FR" sz="2250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Chief Travel Officer du foyer — par défaut.</a:t>
            </a:r>
            <a:endParaRPr lang="fr-FR" sz="2250" noProof="1"/>
          </a:p>
        </p:txBody>
      </p:sp>
      <p:sp>
        <p:nvSpPr>
          <p:cNvPr id="8" name="Shape 6"/>
          <p:cNvSpPr/>
          <p:nvPr/>
        </p:nvSpPr>
        <p:spPr>
          <a:xfrm>
            <a:off x="704947" y="6086091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904972" y="5971791"/>
            <a:ext cx="72956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FONCTIONNEL</a:t>
            </a:r>
            <a:endParaRPr lang="fr-FR" sz="1800" noProof="1"/>
          </a:p>
        </p:txBody>
      </p:sp>
      <p:sp>
        <p:nvSpPr>
          <p:cNvPr id="10" name="Text 8"/>
          <p:cNvSpPr/>
          <p:nvPr/>
        </p:nvSpPr>
        <p:spPr>
          <a:xfrm>
            <a:off x="904972" y="6314691"/>
            <a:ext cx="729561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fr-FR" sz="210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Organiser un voyage sans repartir de zéro, rien oublier</a:t>
            </a:r>
            <a:endParaRPr lang="fr-FR" sz="2100" noProof="1"/>
          </a:p>
        </p:txBody>
      </p:sp>
      <p:sp>
        <p:nvSpPr>
          <p:cNvPr id="11" name="Shape 9"/>
          <p:cNvSpPr/>
          <p:nvPr/>
        </p:nvSpPr>
        <p:spPr>
          <a:xfrm>
            <a:off x="704947" y="7067166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2" name="Text 10"/>
          <p:cNvSpPr/>
          <p:nvPr/>
        </p:nvSpPr>
        <p:spPr>
          <a:xfrm>
            <a:off x="904972" y="6952866"/>
            <a:ext cx="6269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ÉMOTIONNEL</a:t>
            </a:r>
            <a:endParaRPr lang="fr-FR" sz="1800" noProof="1"/>
          </a:p>
        </p:txBody>
      </p:sp>
      <p:sp>
        <p:nvSpPr>
          <p:cNvPr id="13" name="Text 11"/>
          <p:cNvSpPr/>
          <p:nvPr/>
        </p:nvSpPr>
        <p:spPr>
          <a:xfrm>
            <a:off x="904972" y="7295766"/>
            <a:ext cx="62699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fr-FR" sz="210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Partir sereine — pas épuisée avant de décoller</a:t>
            </a:r>
            <a:endParaRPr lang="fr-FR" sz="2100" noProof="1"/>
          </a:p>
        </p:txBody>
      </p:sp>
      <p:sp>
        <p:nvSpPr>
          <p:cNvPr id="14" name="Shape 12"/>
          <p:cNvSpPr/>
          <p:nvPr/>
        </p:nvSpPr>
        <p:spPr>
          <a:xfrm>
            <a:off x="704947" y="8048241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5" name="Text 13"/>
          <p:cNvSpPr/>
          <p:nvPr/>
        </p:nvSpPr>
        <p:spPr>
          <a:xfrm>
            <a:off x="904972" y="7933941"/>
            <a:ext cx="72419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</a:t>
            </a:r>
            <a:endParaRPr lang="fr-FR" sz="1800" noProof="1"/>
          </a:p>
        </p:txBody>
      </p:sp>
      <p:sp>
        <p:nvSpPr>
          <p:cNvPr id="16" name="Text 14"/>
          <p:cNvSpPr/>
          <p:nvPr/>
        </p:nvSpPr>
        <p:spPr>
          <a:xfrm>
            <a:off x="904972" y="8276841"/>
            <a:ext cx="724191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fr-FR" sz="210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Rendre l'organisation visible et délégable sans friction</a:t>
            </a:r>
            <a:endParaRPr lang="fr-FR" sz="2100" noProof="1"/>
          </a:p>
        </p:txBody>
      </p:sp>
      <p:sp>
        <p:nvSpPr>
          <p:cNvPr id="17" name="Shape 15"/>
          <p:cNvSpPr/>
          <p:nvPr/>
        </p:nvSpPr>
        <p:spPr>
          <a:xfrm>
            <a:off x="9134475" y="4761497"/>
            <a:ext cx="45719" cy="5761121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7" name="Text 25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28" name="Text 26"/>
          <p:cNvSpPr/>
          <p:nvPr/>
        </p:nvSpPr>
        <p:spPr>
          <a:xfrm>
            <a:off x="16543883" y="9420225"/>
            <a:ext cx="6773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11</a:t>
            </a:r>
            <a:endParaRPr lang="fr-FR" sz="1800" noProof="1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E3448DDB-19C2-A956-95B9-BB7558692A53}"/>
              </a:ext>
            </a:extLst>
          </p:cNvPr>
          <p:cNvSpPr/>
          <p:nvPr/>
        </p:nvSpPr>
        <p:spPr>
          <a:xfrm>
            <a:off x="9703058" y="3300672"/>
            <a:ext cx="87534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75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 LES EXPERT(E)S</a:t>
            </a:r>
            <a:endParaRPr lang="fr-FR" sz="1800" noProof="1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0A2BF091-2857-BF30-E0FE-593532CDEEBC}"/>
              </a:ext>
            </a:extLst>
          </p:cNvPr>
          <p:cNvSpPr/>
          <p:nvPr/>
        </p:nvSpPr>
        <p:spPr>
          <a:xfrm>
            <a:off x="9703058" y="3734418"/>
            <a:ext cx="875346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fr-FR" sz="4000" i="1" kern="0" spc="-75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</a:rPr>
              <a:t>Céline, Selma, Sonia</a:t>
            </a:r>
            <a:endParaRPr lang="fr-FR" sz="4000" noProof="1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45DB3207-1785-DB80-C8B6-DFC52EE4B482}"/>
              </a:ext>
            </a:extLst>
          </p:cNvPr>
          <p:cNvSpPr/>
          <p:nvPr/>
        </p:nvSpPr>
        <p:spPr>
          <a:xfrm>
            <a:off x="9703058" y="4775653"/>
            <a:ext cx="8196422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fr-FR" sz="225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35–40 ans · CSP+ · Cadres actives · sans enfants</a:t>
            </a:r>
          </a:p>
          <a:p>
            <a:pPr marL="0" indent="0" algn="l">
              <a:lnSpc>
                <a:spcPct val="165000"/>
              </a:lnSpc>
              <a:buNone/>
            </a:pPr>
            <a:r>
              <a:rPr lang="fr-FR" sz="225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fr-FR" sz="2250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Voyager est leur passion.</a:t>
            </a:r>
            <a:endParaRPr lang="fr-FR" sz="2250" noProof="1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1CD0E9A1-32C6-7180-E4A5-C951D14D283E}"/>
              </a:ext>
            </a:extLst>
          </p:cNvPr>
          <p:cNvSpPr/>
          <p:nvPr/>
        </p:nvSpPr>
        <p:spPr>
          <a:xfrm>
            <a:off x="9703058" y="6086091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D1880F98-C11F-BDB4-A9E1-625989F41378}"/>
              </a:ext>
            </a:extLst>
          </p:cNvPr>
          <p:cNvSpPr/>
          <p:nvPr/>
        </p:nvSpPr>
        <p:spPr>
          <a:xfrm>
            <a:off x="9903083" y="5971791"/>
            <a:ext cx="72956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FONCTIONNEL</a:t>
            </a:r>
            <a:endParaRPr lang="fr-FR" sz="1800" noProof="1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3B16C1D9-E875-4E0C-E3A6-AADD782EF800}"/>
              </a:ext>
            </a:extLst>
          </p:cNvPr>
          <p:cNvSpPr/>
          <p:nvPr/>
        </p:nvSpPr>
        <p:spPr>
          <a:xfrm>
            <a:off x="9903083" y="6314691"/>
            <a:ext cx="729561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fr-FR" sz="2100" noProof="1">
                <a:solidFill>
                  <a:srgbClr val="5C4742"/>
                </a:solidFill>
                <a:latin typeface="DM Sans" pitchFamily="34" charset="0"/>
              </a:rPr>
              <a:t>S’appuyer sur un historique de voyages</a:t>
            </a:r>
            <a:endParaRPr lang="fr-FR" sz="2100" noProof="1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D95663DA-4FC9-E4E7-5C7D-F8FE09A5B61F}"/>
              </a:ext>
            </a:extLst>
          </p:cNvPr>
          <p:cNvSpPr/>
          <p:nvPr/>
        </p:nvSpPr>
        <p:spPr>
          <a:xfrm>
            <a:off x="9703058" y="7067166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6D8CF988-ED60-D47C-2142-C010AB35EDEA}"/>
              </a:ext>
            </a:extLst>
          </p:cNvPr>
          <p:cNvSpPr/>
          <p:nvPr/>
        </p:nvSpPr>
        <p:spPr>
          <a:xfrm>
            <a:off x="9903083" y="6952866"/>
            <a:ext cx="6269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ÉMOTIONNEL</a:t>
            </a:r>
            <a:endParaRPr lang="fr-FR" sz="1800" noProof="1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35EDECFC-12DE-B903-55DC-118B1E3E1017}"/>
              </a:ext>
            </a:extLst>
          </p:cNvPr>
          <p:cNvSpPr/>
          <p:nvPr/>
        </p:nvSpPr>
        <p:spPr>
          <a:xfrm>
            <a:off x="9903083" y="7295766"/>
            <a:ext cx="813046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fr-FR" sz="2100" noProof="1">
                <a:solidFill>
                  <a:srgbClr val="5C4742"/>
                </a:solidFill>
                <a:latin typeface="DM Sans" pitchFamily="34" charset="0"/>
              </a:rPr>
              <a:t>L’excitation de tout avoir bien planifié</a:t>
            </a:r>
            <a:endParaRPr lang="fr-FR" sz="2100" noProof="1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47973E6A-1A8C-6365-5258-06F9BCD6E83D}"/>
              </a:ext>
            </a:extLst>
          </p:cNvPr>
          <p:cNvSpPr/>
          <p:nvPr/>
        </p:nvSpPr>
        <p:spPr>
          <a:xfrm>
            <a:off x="9703058" y="8048241"/>
            <a:ext cx="28575" cy="28575"/>
          </a:xfrm>
          <a:prstGeom prst="ellipse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214AE5DC-986F-5770-4B3D-F3D078101FF8}"/>
              </a:ext>
            </a:extLst>
          </p:cNvPr>
          <p:cNvSpPr/>
          <p:nvPr/>
        </p:nvSpPr>
        <p:spPr>
          <a:xfrm>
            <a:off x="9903083" y="7933941"/>
            <a:ext cx="72419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</a:t>
            </a:r>
            <a:endParaRPr lang="fr-FR" sz="1800" noProof="1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6F38A2B1-126D-97A2-C35B-B89A576B9E53}"/>
              </a:ext>
            </a:extLst>
          </p:cNvPr>
          <p:cNvSpPr/>
          <p:nvPr/>
        </p:nvSpPr>
        <p:spPr>
          <a:xfrm>
            <a:off x="9903083" y="8276841"/>
            <a:ext cx="724191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fr-FR" sz="210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Rendre l'organisation collaborative : planifier c’est déjà voyager</a:t>
            </a:r>
            <a:endParaRPr lang="fr-FR" sz="2100" noProof="1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8925908F-2224-0850-C591-B92DF574B540}"/>
              </a:ext>
            </a:extLst>
          </p:cNvPr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4200" i="1" kern="0" spc="-37" noProof="1">
                <a:solidFill>
                  <a:srgbClr val="1C1714"/>
                </a:solidFill>
                <a:latin typeface="Playfair Display" panose="00000500000000000000" pitchFamily="2" charset="0"/>
                <a:ea typeface="Cormorant Garamond" pitchFamily="34" charset="-122"/>
                <a:cs typeface="Cormorant Garamond" pitchFamily="34" charset="-120"/>
              </a:rPr>
              <a:t>Différentes cibles possibles pour le produit</a:t>
            </a:r>
            <a:endParaRPr lang="fr-FR" sz="4200" i="1" noProof="1">
              <a:latin typeface="Playfair Display" panose="00000500000000000000" pitchFamily="2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4BA46A26-577E-94C4-7278-DAB2892B3D83}"/>
              </a:ext>
            </a:extLst>
          </p:cNvPr>
          <p:cNvSpPr/>
          <p:nvPr/>
        </p:nvSpPr>
        <p:spPr>
          <a:xfrm>
            <a:off x="1143000" y="2076450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Faire de l’organisation du voyage un moment sans prise de tête et social</a:t>
            </a:r>
            <a:endParaRPr lang="fr-FR" sz="2100" noProof="1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B05CA382-08D3-5F17-695D-A57268241A28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chemeClr val="bg1">
                    <a:lumMod val="85000"/>
                  </a:scheme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5123170" y="800100"/>
            <a:ext cx="22240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IRRITANTS</a:t>
            </a:r>
            <a:endParaRPr lang="fr-FR" sz="1800" noProof="1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4200" i="1" kern="0" spc="-37" noProof="1">
                <a:solidFill>
                  <a:srgbClr val="1C1714"/>
                </a:solidFill>
                <a:latin typeface="Playfair Display" panose="00000500000000000000" pitchFamily="2" charset="0"/>
                <a:ea typeface="Cormorant Garamond" pitchFamily="34" charset="-122"/>
                <a:cs typeface="Cormorant Garamond" pitchFamily="34" charset="-120"/>
              </a:rPr>
              <a:t>Trois irritants récurrents</a:t>
            </a:r>
            <a:endParaRPr lang="fr-FR" sz="4200" i="1" noProof="1">
              <a:latin typeface="Playfair Display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2076450"/>
            <a:ext cx="17602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Identifiés sur les profils de nos personas</a:t>
            </a:r>
            <a:endParaRPr lang="fr-FR" sz="2100" noProof="1"/>
          </a:p>
        </p:txBody>
      </p:sp>
      <p:sp>
        <p:nvSpPr>
          <p:cNvPr id="6" name="Text 4"/>
          <p:cNvSpPr/>
          <p:nvPr/>
        </p:nvSpPr>
        <p:spPr>
          <a:xfrm>
            <a:off x="1143000" y="2962275"/>
            <a:ext cx="48545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9750" b="1" noProof="1">
                <a:solidFill>
                  <a:srgbClr val="1C1714">
                    <a:alpha val="6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fr-FR" sz="9750" noProof="1"/>
          </a:p>
        </p:txBody>
      </p:sp>
      <p:sp>
        <p:nvSpPr>
          <p:cNvPr id="7" name="Text 5"/>
          <p:cNvSpPr/>
          <p:nvPr/>
        </p:nvSpPr>
        <p:spPr>
          <a:xfrm>
            <a:off x="1143000" y="4048125"/>
            <a:ext cx="4854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8D5B4C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REPARTIR DE ZÉRO</a:t>
            </a:r>
            <a:endParaRPr lang="fr-FR" sz="1800" noProof="1"/>
          </a:p>
        </p:txBody>
      </p:sp>
      <p:sp>
        <p:nvSpPr>
          <p:cNvPr id="8" name="Text 6"/>
          <p:cNvSpPr/>
          <p:nvPr/>
        </p:nvSpPr>
        <p:spPr>
          <a:xfrm>
            <a:off x="1143000" y="4514850"/>
            <a:ext cx="454559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7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Aucune structure mémorisée</a:t>
            </a:r>
            <a:endParaRPr lang="fr-FR" sz="3750" noProof="1"/>
          </a:p>
        </p:txBody>
      </p:sp>
      <p:sp>
        <p:nvSpPr>
          <p:cNvPr id="9" name="Text 7"/>
          <p:cNvSpPr/>
          <p:nvPr/>
        </p:nvSpPr>
        <p:spPr>
          <a:xfrm>
            <a:off x="1143000" y="5791200"/>
            <a:ext cx="45455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10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À chaque nouveau voyage, Marie recrée l'ossature depuis zéro. Aucun système ne retient ce qu'elle a déjà construit.</a:t>
            </a:r>
            <a:endParaRPr lang="fr-FR" sz="2100" noProof="1"/>
          </a:p>
        </p:txBody>
      </p:sp>
      <p:sp>
        <p:nvSpPr>
          <p:cNvPr id="10" name="Shape 8"/>
          <p:cNvSpPr/>
          <p:nvPr/>
        </p:nvSpPr>
        <p:spPr>
          <a:xfrm>
            <a:off x="6242000" y="2886075"/>
            <a:ext cx="9525" cy="59531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1" name="Text 9"/>
          <p:cNvSpPr/>
          <p:nvPr/>
        </p:nvSpPr>
        <p:spPr>
          <a:xfrm>
            <a:off x="6937325" y="2962275"/>
            <a:ext cx="48545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9750" b="1" noProof="1">
                <a:solidFill>
                  <a:srgbClr val="1C1714">
                    <a:alpha val="6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fr-FR" sz="9750" noProof="1"/>
          </a:p>
        </p:txBody>
      </p:sp>
      <p:sp>
        <p:nvSpPr>
          <p:cNvPr id="12" name="Text 10"/>
          <p:cNvSpPr/>
          <p:nvPr/>
        </p:nvSpPr>
        <p:spPr>
          <a:xfrm>
            <a:off x="6937325" y="4048125"/>
            <a:ext cx="4854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8D5B4C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TOUT DANS LA TÊTE</a:t>
            </a:r>
            <a:endParaRPr lang="fr-FR" sz="1800" noProof="1"/>
          </a:p>
        </p:txBody>
      </p:sp>
      <p:sp>
        <p:nvSpPr>
          <p:cNvPr id="13" name="Text 11"/>
          <p:cNvSpPr/>
          <p:nvPr/>
        </p:nvSpPr>
        <p:spPr>
          <a:xfrm>
            <a:off x="6937325" y="4514850"/>
            <a:ext cx="454559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7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Charge mentale invisible</a:t>
            </a:r>
            <a:endParaRPr lang="fr-FR" sz="3750" noProof="1"/>
          </a:p>
        </p:txBody>
      </p:sp>
      <p:sp>
        <p:nvSpPr>
          <p:cNvPr id="14" name="Text 12"/>
          <p:cNvSpPr/>
          <p:nvPr/>
        </p:nvSpPr>
        <p:spPr>
          <a:xfrm>
            <a:off x="6937325" y="5791200"/>
            <a:ext cx="45455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10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L'état d'avancement de l'organisation n'existe que dans sa tête. Son partenaire n'a aucune visibilité.</a:t>
            </a:r>
            <a:endParaRPr lang="fr-FR" sz="2100" noProof="1"/>
          </a:p>
        </p:txBody>
      </p:sp>
      <p:sp>
        <p:nvSpPr>
          <p:cNvPr id="15" name="Shape 13"/>
          <p:cNvSpPr/>
          <p:nvPr/>
        </p:nvSpPr>
        <p:spPr>
          <a:xfrm>
            <a:off x="12036326" y="2886075"/>
            <a:ext cx="9525" cy="59531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6" name="Text 14"/>
          <p:cNvSpPr/>
          <p:nvPr/>
        </p:nvSpPr>
        <p:spPr>
          <a:xfrm>
            <a:off x="12731651" y="2962275"/>
            <a:ext cx="485452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9750" b="1" noProof="1">
                <a:solidFill>
                  <a:srgbClr val="1C1714">
                    <a:alpha val="6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fr-FR" sz="9750" noProof="1"/>
          </a:p>
        </p:txBody>
      </p:sp>
      <p:sp>
        <p:nvSpPr>
          <p:cNvPr id="17" name="Text 15"/>
          <p:cNvSpPr/>
          <p:nvPr/>
        </p:nvSpPr>
        <p:spPr>
          <a:xfrm>
            <a:off x="12731651" y="4048125"/>
            <a:ext cx="4854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8D5B4C">
                    <a:alpha val="8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IMPOSSIBLE À DÉLÉGUER</a:t>
            </a:r>
            <a:endParaRPr lang="fr-FR" sz="1800" noProof="1"/>
          </a:p>
        </p:txBody>
      </p:sp>
      <p:sp>
        <p:nvSpPr>
          <p:cNvPr id="18" name="Text 16"/>
          <p:cNvSpPr/>
          <p:nvPr/>
        </p:nvSpPr>
        <p:spPr>
          <a:xfrm>
            <a:off x="12731651" y="4514850"/>
            <a:ext cx="454559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7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Partager crée plus de friction</a:t>
            </a:r>
            <a:endParaRPr lang="fr-FR" sz="3750" noProof="1"/>
          </a:p>
        </p:txBody>
      </p:sp>
      <p:sp>
        <p:nvSpPr>
          <p:cNvPr id="19" name="Text 17"/>
          <p:cNvSpPr/>
          <p:nvPr/>
        </p:nvSpPr>
        <p:spPr>
          <a:xfrm>
            <a:off x="12731651" y="5791200"/>
            <a:ext cx="45455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10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Pour déléguer une tâche, pour construire un voyage à plusieurs, la checkliste partagée est un atout.</a:t>
            </a:r>
            <a:endParaRPr lang="fr-FR" sz="2100" noProof="1"/>
          </a:p>
        </p:txBody>
      </p:sp>
      <p:sp>
        <p:nvSpPr>
          <p:cNvPr id="20" name="Shape 18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1" name="Text 19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22" name="Text 20"/>
          <p:cNvSpPr/>
          <p:nvPr/>
        </p:nvSpPr>
        <p:spPr>
          <a:xfrm>
            <a:off x="16540311" y="9420225"/>
            <a:ext cx="6808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11</a:t>
            </a:r>
            <a:endParaRPr lang="fr-FR" sz="1800" noProof="1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420BBE0D-7A5E-FA6E-EEA9-91F3AB4C278F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chemeClr val="bg1">
                    <a:lumMod val="85000"/>
                  </a:scheme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4500" y="1800225"/>
            <a:ext cx="6686550" cy="6686550"/>
          </a:xfrm>
          <a:prstGeom prst="ellipse">
            <a:avLst/>
          </a:prstGeom>
          <a:ln w="9525">
            <a:solidFill>
              <a:srgbClr val="8D5B4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4" name="Text 2"/>
          <p:cNvSpPr/>
          <p:nvPr/>
        </p:nvSpPr>
        <p:spPr>
          <a:xfrm>
            <a:off x="15284202" y="800100"/>
            <a:ext cx="20468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SOLUTION</a:t>
            </a:r>
            <a:endParaRPr lang="fr-FR" sz="1800" noProof="1"/>
          </a:p>
        </p:txBody>
      </p:sp>
      <p:sp>
        <p:nvSpPr>
          <p:cNvPr id="5" name="Text 3"/>
          <p:cNvSpPr/>
          <p:nvPr/>
        </p:nvSpPr>
        <p:spPr>
          <a:xfrm>
            <a:off x="1143000" y="2869406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75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— LA RÉPONSE</a:t>
            </a:r>
            <a:endParaRPr lang="fr-FR" sz="1800" noProof="1"/>
          </a:p>
        </p:txBody>
      </p:sp>
      <p:sp>
        <p:nvSpPr>
          <p:cNvPr id="6" name="Text 4"/>
          <p:cNvSpPr/>
          <p:nvPr/>
        </p:nvSpPr>
        <p:spPr>
          <a:xfrm>
            <a:off x="910099" y="3887390"/>
            <a:ext cx="5278430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fr-FR" sz="11100" i="1" kern="0" spc="-150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11100" noProof="1"/>
          </a:p>
        </p:txBody>
      </p:sp>
      <p:sp>
        <p:nvSpPr>
          <p:cNvPr id="7" name="Text 5"/>
          <p:cNvSpPr/>
          <p:nvPr/>
        </p:nvSpPr>
        <p:spPr>
          <a:xfrm>
            <a:off x="7738109" y="3533775"/>
            <a:ext cx="4120515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250" noProof="1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votre voyage en étapes et génère automatiquement ce qu'il faut vérifier pour chacune.</a:t>
            </a:r>
            <a:endParaRPr lang="fr-FR" sz="2250" noProof="1"/>
          </a:p>
        </p:txBody>
      </p:sp>
      <p:sp>
        <p:nvSpPr>
          <p:cNvPr id="8" name="Shape 6"/>
          <p:cNvSpPr/>
          <p:nvPr/>
        </p:nvSpPr>
        <p:spPr>
          <a:xfrm>
            <a:off x="1143000" y="6041231"/>
            <a:ext cx="3810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1143000" y="6503194"/>
            <a:ext cx="415379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3300" b="1" noProof="1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fr-FR" sz="3300" noProof="1"/>
          </a:p>
        </p:txBody>
      </p:sp>
      <p:sp>
        <p:nvSpPr>
          <p:cNvPr id="10" name="Text 8"/>
          <p:cNvSpPr/>
          <p:nvPr/>
        </p:nvSpPr>
        <p:spPr>
          <a:xfrm>
            <a:off x="1634579" y="6474619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mémorisée</a:t>
            </a:r>
            <a:endParaRPr lang="fr-FR" sz="2100" noProof="1"/>
          </a:p>
        </p:txBody>
      </p:sp>
      <p:sp>
        <p:nvSpPr>
          <p:cNvPr id="11" name="Text 9"/>
          <p:cNvSpPr/>
          <p:nvPr/>
        </p:nvSpPr>
        <p:spPr>
          <a:xfrm>
            <a:off x="1634579" y="6884194"/>
            <a:ext cx="294322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fr-FR" sz="1950" noProof="1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moule de voyage réutilisable à chaque séjour</a:t>
            </a:r>
            <a:endParaRPr lang="fr-FR" sz="1950" noProof="1"/>
          </a:p>
        </p:txBody>
      </p:sp>
      <p:sp>
        <p:nvSpPr>
          <p:cNvPr id="12" name="Text 10"/>
          <p:cNvSpPr/>
          <p:nvPr/>
        </p:nvSpPr>
        <p:spPr>
          <a:xfrm>
            <a:off x="5254079" y="6503194"/>
            <a:ext cx="444698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3300" b="1" noProof="1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fr-FR" sz="3300" noProof="1"/>
          </a:p>
        </p:txBody>
      </p:sp>
      <p:sp>
        <p:nvSpPr>
          <p:cNvPr id="13" name="Text 11"/>
          <p:cNvSpPr/>
          <p:nvPr/>
        </p:nvSpPr>
        <p:spPr>
          <a:xfrm>
            <a:off x="5774978" y="6474619"/>
            <a:ext cx="319252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Checklists intelligentes</a:t>
            </a:r>
            <a:endParaRPr lang="fr-FR" sz="2100" noProof="1"/>
          </a:p>
        </p:txBody>
      </p:sp>
      <p:sp>
        <p:nvSpPr>
          <p:cNvPr id="14" name="Text 12"/>
          <p:cNvSpPr/>
          <p:nvPr/>
        </p:nvSpPr>
        <p:spPr>
          <a:xfrm>
            <a:off x="5774978" y="6884194"/>
            <a:ext cx="294322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fr-FR" sz="1950" noProof="1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Générées automatiquement par type d'étape</a:t>
            </a:r>
            <a:endParaRPr lang="fr-FR" sz="1950" noProof="1"/>
          </a:p>
        </p:txBody>
      </p:sp>
      <p:sp>
        <p:nvSpPr>
          <p:cNvPr id="15" name="Text 13"/>
          <p:cNvSpPr/>
          <p:nvPr/>
        </p:nvSpPr>
        <p:spPr>
          <a:xfrm>
            <a:off x="9439275" y="6503194"/>
            <a:ext cx="440680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3300" b="1" noProof="1">
                <a:solidFill>
                  <a:srgbClr val="8D5B4C">
                    <a:alpha val="75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fr-FR" sz="3300" noProof="1"/>
          </a:p>
        </p:txBody>
      </p:sp>
      <p:sp>
        <p:nvSpPr>
          <p:cNvPr id="16" name="Text 14"/>
          <p:cNvSpPr/>
          <p:nvPr/>
        </p:nvSpPr>
        <p:spPr>
          <a:xfrm>
            <a:off x="9956155" y="6474619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Partage en un lien</a:t>
            </a:r>
            <a:endParaRPr lang="fr-FR" sz="2100" noProof="1"/>
          </a:p>
        </p:txBody>
      </p:sp>
      <p:sp>
        <p:nvSpPr>
          <p:cNvPr id="17" name="Text 15"/>
          <p:cNvSpPr/>
          <p:nvPr/>
        </p:nvSpPr>
        <p:spPr>
          <a:xfrm>
            <a:off x="9956155" y="6884194"/>
            <a:ext cx="2943225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fr-FR" sz="1950" noProof="1">
                <a:solidFill>
                  <a:srgbClr val="F5F0E8">
                    <a:alpha val="3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partenaire sans téléchargement, synchronisée</a:t>
            </a:r>
            <a:endParaRPr lang="fr-FR" sz="1950" noProof="1"/>
          </a:p>
        </p:txBody>
      </p:sp>
      <p:sp>
        <p:nvSpPr>
          <p:cNvPr id="18" name="Shape 16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9" name="Text 17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20" name="Text 18"/>
          <p:cNvSpPr/>
          <p:nvPr/>
        </p:nvSpPr>
        <p:spPr>
          <a:xfrm>
            <a:off x="16539567" y="9420225"/>
            <a:ext cx="6816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11</a:t>
            </a:r>
            <a:endParaRPr lang="fr-FR" sz="1800" noProof="1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FD4D6BD9-9B95-2EAB-6401-CF2955C0D138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chemeClr val="bg1">
                    <a:lumMod val="85000"/>
                  </a:scheme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00000" y="800100"/>
            <a:ext cx="7000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PROCESSUS &amp;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23975"/>
            <a:ext cx="16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0" i="1" u="none" strike="noStrike" kern="1200" cap="none" spc="0" normalizeH="0" baseline="0" noProof="0" dirty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Playfair Display"/>
                <a:ea typeface="+mn-ea"/>
                <a:cs typeface="+mn-cs"/>
              </a:rPr>
              <a:t>De </a:t>
            </a:r>
            <a:r>
              <a:rPr kumimoji="0" sz="4200" b="0" i="1" u="none" strike="noStrike" kern="1200" cap="none" spc="0" normalizeH="0" baseline="0" noProof="0" dirty="0" err="1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Playfair Display"/>
                <a:ea typeface="+mn-ea"/>
                <a:cs typeface="+mn-cs"/>
              </a:rPr>
              <a:t>l'idée</a:t>
            </a:r>
            <a:r>
              <a:rPr kumimoji="0" sz="4200" b="0" i="1" u="none" strike="noStrike" kern="1200" cap="none" spc="0" normalizeH="0" baseline="0" noProof="0" dirty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Playfair Display"/>
                <a:ea typeface="+mn-ea"/>
                <a:cs typeface="+mn-cs"/>
              </a:rPr>
              <a:t> au </a:t>
            </a:r>
            <a:r>
              <a:rPr kumimoji="0" sz="4200" b="0" i="1" u="none" strike="noStrike" kern="1200" cap="none" spc="0" normalizeH="0" baseline="0" noProof="0" dirty="0" err="1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Playfair Display"/>
                <a:ea typeface="+mn-ea"/>
                <a:cs typeface="+mn-cs"/>
              </a:rPr>
              <a:t>produit</a:t>
            </a:r>
            <a:r>
              <a:rPr kumimoji="0" sz="4200" b="0" i="1" u="none" strike="noStrike" kern="1200" cap="none" spc="0" normalizeH="0" baseline="0" noProof="0" dirty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Playfair Display"/>
                <a:ea typeface="+mn-ea"/>
                <a:cs typeface="+mn-cs"/>
              </a:rPr>
              <a:t> — 5 étapes.</a:t>
            </a:r>
          </a:p>
        </p:txBody>
      </p:sp>
      <p:sp>
        <p:nvSpPr>
          <p:cNvPr id="9001" name="hline"/>
          <p:cNvSpPr>
            <a:spLocks noGrp="1"/>
          </p:cNvSpPr>
          <p:nvPr/>
        </p:nvSpPr>
        <p:spPr>
          <a:xfrm>
            <a:off x="1143000" y="2381250"/>
            <a:ext cx="160020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02" name="TextBox 9001"/>
          <p:cNvSpPr txBox="1"/>
          <p:nvPr/>
        </p:nvSpPr>
        <p:spPr>
          <a:xfrm>
            <a:off x="1143000" y="2533650"/>
            <a:ext cx="600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01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1143000" y="297180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1200" cap="none" spc="0" normalizeH="0" baseline="0" noProof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Playfair Display"/>
                <a:ea typeface="+mn-ea"/>
                <a:cs typeface="+mn-cs"/>
              </a:rPr>
              <a:t>Idéation
&amp; Design</a:t>
            </a:r>
          </a:p>
        </p:txBody>
      </p:sp>
      <p:sp>
        <p:nvSpPr>
          <p:cNvPr id="9004" name="TextBox 9003"/>
          <p:cNvSpPr txBox="1"/>
          <p:nvPr/>
        </p:nvSpPr>
        <p:spPr>
          <a:xfrm>
            <a:off x="1143000" y="4010175"/>
            <a:ext cx="2971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Exploration du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problème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définition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du persona, features MVP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Product Design et planification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5" name="hline"/>
          <p:cNvSpPr>
            <a:spLocks noGrp="1"/>
          </p:cNvSpPr>
          <p:nvPr/>
        </p:nvSpPr>
        <p:spPr>
          <a:xfrm>
            <a:off x="1143000" y="5457825"/>
            <a:ext cx="29718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05" name="TextBox 9004"/>
          <p:cNvSpPr txBox="1"/>
          <p:nvPr/>
        </p:nvSpPr>
        <p:spPr>
          <a:xfrm>
            <a:off x="1142999" y="5562225"/>
            <a:ext cx="13295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OUTIL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1143000" y="5876925"/>
            <a:ext cx="29718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Claude Projets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4314800" y="2533650"/>
            <a:ext cx="600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4314800" y="297180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1200" cap="none" spc="0" normalizeH="0" baseline="0" noProof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Playfair Display"/>
                <a:ea typeface="+mn-ea"/>
                <a:cs typeface="+mn-cs"/>
              </a:rPr>
              <a:t>Prototype
cliquable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4314800" y="4010175"/>
            <a:ext cx="2971800" cy="129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écrans HTML/CSS/JS, single-file, aucune dépendance externe.</a:t>
            </a:r>
          </a:p>
        </p:txBody>
      </p:sp>
      <p:sp>
        <p:nvSpPr>
          <p:cNvPr id="6" name="hline"/>
          <p:cNvSpPr>
            <a:spLocks noGrp="1"/>
          </p:cNvSpPr>
          <p:nvPr/>
        </p:nvSpPr>
        <p:spPr>
          <a:xfrm>
            <a:off x="4314800" y="5457825"/>
            <a:ext cx="29718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10" name="TextBox 9009"/>
          <p:cNvSpPr txBox="1"/>
          <p:nvPr/>
        </p:nvSpPr>
        <p:spPr>
          <a:xfrm>
            <a:off x="4314799" y="5562225"/>
            <a:ext cx="13295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OUTIL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4314800" y="5876925"/>
            <a:ext cx="2971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Claude Code</a:t>
            </a:r>
            <a:r>
              <a:rPr kumimoji="0" lang="fr-FR" sz="2100" b="1" i="0" u="none" strike="noStrike" kern="1200" cap="none" spc="0" normalizeH="0" baseline="0" noProof="0" dirty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publiée sur GitHub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1C17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12" name="TextBox 9011"/>
          <p:cNvSpPr txBox="1"/>
          <p:nvPr/>
        </p:nvSpPr>
        <p:spPr>
          <a:xfrm>
            <a:off x="7486600" y="2533650"/>
            <a:ext cx="600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03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7486600" y="297180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1200" cap="none" spc="0" normalizeH="0" baseline="0" noProof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Playfair Display"/>
                <a:ea typeface="+mn-ea"/>
                <a:cs typeface="+mn-cs"/>
              </a:rPr>
              <a:t>Database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7486600" y="4010175"/>
            <a:ext cx="2971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tables, 6 champs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calculés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schéma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conçu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pour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Softr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7" name="hline"/>
          <p:cNvSpPr>
            <a:spLocks noGrp="1"/>
          </p:cNvSpPr>
          <p:nvPr/>
        </p:nvSpPr>
        <p:spPr>
          <a:xfrm>
            <a:off x="7486600" y="5457825"/>
            <a:ext cx="29718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15" name="TextBox 9014"/>
          <p:cNvSpPr txBox="1"/>
          <p:nvPr/>
        </p:nvSpPr>
        <p:spPr>
          <a:xfrm>
            <a:off x="7486599" y="5562225"/>
            <a:ext cx="13295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OUTIL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7486600" y="5876925"/>
            <a:ext cx="29718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Airtable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10658400" y="2533650"/>
            <a:ext cx="600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04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10658400" y="297180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1200" cap="none" spc="0" normalizeH="0" baseline="0" noProof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Playfair Display"/>
                <a:ea typeface="+mn-ea"/>
                <a:cs typeface="+mn-cs"/>
              </a:rPr>
              <a:t>Pages
de l'app</a:t>
            </a:r>
          </a:p>
        </p:txBody>
      </p:sp>
      <p:sp>
        <p:nvSpPr>
          <p:cNvPr id="9019" name="TextBox 9018"/>
          <p:cNvSpPr txBox="1"/>
          <p:nvPr/>
        </p:nvSpPr>
        <p:spPr>
          <a:xfrm>
            <a:off x="10658400" y="4010175"/>
            <a:ext cx="2971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écrans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configurés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avec blocs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natifs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custom code pour les interactions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le look &amp;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feel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8" name="hline"/>
          <p:cNvSpPr>
            <a:spLocks noGrp="1"/>
          </p:cNvSpPr>
          <p:nvPr/>
        </p:nvSpPr>
        <p:spPr>
          <a:xfrm>
            <a:off x="10658400" y="5457825"/>
            <a:ext cx="29718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20" name="TextBox 9019"/>
          <p:cNvSpPr txBox="1"/>
          <p:nvPr/>
        </p:nvSpPr>
        <p:spPr>
          <a:xfrm>
            <a:off x="10658399" y="5562225"/>
            <a:ext cx="13295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OUTIL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10658400" y="5876925"/>
            <a:ext cx="2971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Softr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HTML / CSS / JS</a:t>
            </a:r>
            <a:endParaRPr lang="fr-FR" sz="2100" b="1" dirty="0">
              <a:solidFill>
                <a:srgbClr val="1C1714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100" b="1" i="0" u="none" strike="noStrike" kern="1200" cap="none" spc="0" normalizeH="0" baseline="0" noProof="0" dirty="0">
              <a:ln>
                <a:noFill/>
              </a:ln>
              <a:solidFill>
                <a:srgbClr val="1C17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100" b="1" i="0" u="none" strike="noStrike" kern="1200" cap="none" spc="0" normalizeH="0" baseline="0" noProof="0" dirty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(Claude Code CLI – zéro </a:t>
            </a:r>
            <a:r>
              <a:rPr kumimoji="0" lang="fr-FR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dépassemen</a:t>
            </a:r>
            <a:r>
              <a:rPr lang="fr-FR" sz="2100" b="1" dirty="0">
                <a:solidFill>
                  <a:srgbClr val="1C1714"/>
                </a:solidFill>
                <a:latin typeface="Calibri" panose="020F0502020204030204"/>
              </a:rPr>
              <a:t>t de </a:t>
            </a:r>
            <a:r>
              <a:rPr lang="fr-FR" sz="2100" b="1" dirty="0" err="1">
                <a:solidFill>
                  <a:srgbClr val="1C1714"/>
                </a:solidFill>
                <a:latin typeface="Calibri" panose="020F0502020204030204"/>
              </a:rPr>
              <a:t>tokens</a:t>
            </a:r>
            <a:r>
              <a:rPr lang="fr-FR" sz="2100" b="1" dirty="0">
                <a:solidFill>
                  <a:srgbClr val="1C1714"/>
                </a:solidFill>
                <a:latin typeface="Calibri" panose="020F0502020204030204"/>
              </a:rPr>
              <a:t> sur un abonnement à 20$)</a:t>
            </a:r>
            <a:endParaRPr kumimoji="0" sz="2100" b="1" i="0" u="none" strike="noStrike" kern="1200" cap="none" spc="0" normalizeH="0" baseline="0" noProof="0" dirty="0">
              <a:ln>
                <a:noFill/>
              </a:ln>
              <a:solidFill>
                <a:srgbClr val="1C171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22" name="TextBox 9021"/>
          <p:cNvSpPr txBox="1"/>
          <p:nvPr/>
        </p:nvSpPr>
        <p:spPr>
          <a:xfrm>
            <a:off x="13830200" y="2533650"/>
            <a:ext cx="6000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05</a:t>
            </a:r>
          </a:p>
        </p:txBody>
      </p:sp>
      <p:sp>
        <p:nvSpPr>
          <p:cNvPr id="9023" name="TextBox 9022"/>
          <p:cNvSpPr txBox="1"/>
          <p:nvPr/>
        </p:nvSpPr>
        <p:spPr>
          <a:xfrm>
            <a:off x="13830200" y="297180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1" u="none" strike="noStrike" kern="1200" cap="none" spc="0" normalizeH="0" baseline="0" noProof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Playfair Display"/>
                <a:ea typeface="+mn-ea"/>
                <a:cs typeface="+mn-cs"/>
              </a:rPr>
              <a:t>Lien
partenaire</a:t>
            </a:r>
          </a:p>
        </p:txBody>
      </p:sp>
      <p:sp>
        <p:nvSpPr>
          <p:cNvPr id="9024" name="TextBox 9023"/>
          <p:cNvSpPr txBox="1"/>
          <p:nvPr/>
        </p:nvSpPr>
        <p:spPr>
          <a:xfrm>
            <a:off x="13830200" y="4010175"/>
            <a:ext cx="2971800" cy="129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Vue partenaire déployée, lien modifiable sans backend. Limite MVP acceptée.</a:t>
            </a:r>
          </a:p>
        </p:txBody>
      </p:sp>
      <p:sp>
        <p:nvSpPr>
          <p:cNvPr id="9" name="hline"/>
          <p:cNvSpPr>
            <a:spLocks noGrp="1"/>
          </p:cNvSpPr>
          <p:nvPr/>
        </p:nvSpPr>
        <p:spPr>
          <a:xfrm>
            <a:off x="13830200" y="5457825"/>
            <a:ext cx="29718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25" name="TextBox 9024"/>
          <p:cNvSpPr txBox="1"/>
          <p:nvPr/>
        </p:nvSpPr>
        <p:spPr>
          <a:xfrm>
            <a:off x="13830199" y="5562225"/>
            <a:ext cx="13295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OUTIL</a:t>
            </a:r>
          </a:p>
        </p:txBody>
      </p:sp>
      <p:sp>
        <p:nvSpPr>
          <p:cNvPr id="9026" name="TextBox 9025"/>
          <p:cNvSpPr txBox="1"/>
          <p:nvPr/>
        </p:nvSpPr>
        <p:spPr>
          <a:xfrm>
            <a:off x="13830200" y="5876925"/>
            <a:ext cx="29718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GitHub Pages</a:t>
            </a:r>
          </a:p>
        </p:txBody>
      </p:sp>
      <p:sp>
        <p:nvSpPr>
          <p:cNvPr id="10" name="hline"/>
          <p:cNvSpPr>
            <a:spLocks noGrp="1"/>
          </p:cNvSpPr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8C2B8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27" name="TextBox 9026"/>
          <p:cNvSpPr txBox="1"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1C171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ALLSET</a:t>
            </a:r>
          </a:p>
        </p:txBody>
      </p:sp>
      <p:sp>
        <p:nvSpPr>
          <p:cNvPr id="9028" name="TextBox 9027"/>
          <p:cNvSpPr txBox="1"/>
          <p:nvPr/>
        </p:nvSpPr>
        <p:spPr>
          <a:xfrm>
            <a:off x="16607730" y="9420225"/>
            <a:ext cx="677317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7A756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07 · 09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925DAE3A-3ACB-E633-56BF-1109882842E6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chemeClr val="bg1">
                    <a:lumMod val="85000"/>
                  </a:scheme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4561344" y="800100"/>
            <a:ext cx="28420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FEUILLE DE ROUTE</a:t>
            </a:r>
            <a:endParaRPr lang="fr-FR" sz="1800" noProof="1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4200" i="1" kern="0" spc="-37" noProof="1">
                <a:solidFill>
                  <a:srgbClr val="1C1714"/>
                </a:solidFill>
                <a:latin typeface="Playfair Display" panose="00000500000000000000" pitchFamily="2" charset="0"/>
                <a:ea typeface="Cormorant Garamond" pitchFamily="34" charset="-122"/>
                <a:cs typeface="Cormorant Garamond" pitchFamily="34" charset="-120"/>
              </a:rPr>
              <a:t>Trois étapes vers la rétention long terme.</a:t>
            </a:r>
            <a:endParaRPr lang="fr-FR" sz="4200" i="1" noProof="1">
              <a:latin typeface="Playfair Display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43000" y="2381250"/>
            <a:ext cx="5334000" cy="28575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6" name="Shape 4"/>
          <p:cNvSpPr/>
          <p:nvPr/>
        </p:nvSpPr>
        <p:spPr>
          <a:xfrm>
            <a:off x="6477000" y="2381250"/>
            <a:ext cx="5334000" cy="28575"/>
          </a:xfrm>
          <a:prstGeom prst="rect">
            <a:avLst/>
          </a:prstGeom>
          <a:solidFill>
            <a:srgbClr val="1C1714">
              <a:alpha val="2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" name="Shape 5"/>
          <p:cNvSpPr/>
          <p:nvPr/>
        </p:nvSpPr>
        <p:spPr>
          <a:xfrm>
            <a:off x="11811000" y="2381250"/>
            <a:ext cx="5334000" cy="28575"/>
          </a:xfrm>
          <a:prstGeom prst="rect">
            <a:avLst/>
          </a:prstGeom>
          <a:solidFill>
            <a:srgbClr val="1C1714">
              <a:alpha val="8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" name="Shape 6"/>
          <p:cNvSpPr/>
          <p:nvPr/>
        </p:nvSpPr>
        <p:spPr>
          <a:xfrm>
            <a:off x="1143000" y="2790825"/>
            <a:ext cx="1472952" cy="390525"/>
          </a:xfrm>
          <a:prstGeom prst="roundRect">
            <a:avLst>
              <a:gd name="adj" fmla="val 4878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1276350" y="2838450"/>
            <a:ext cx="12824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b="1" kern="0" spc="150" noProof="1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V1 — MVP</a:t>
            </a:r>
            <a:endParaRPr lang="fr-FR" sz="1800" noProof="1"/>
          </a:p>
        </p:txBody>
      </p:sp>
      <p:sp>
        <p:nvSpPr>
          <p:cNvPr id="10" name="Text 8"/>
          <p:cNvSpPr/>
          <p:nvPr/>
        </p:nvSpPr>
        <p:spPr>
          <a:xfrm>
            <a:off x="2730252" y="2847975"/>
            <a:ext cx="12672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650" kern="0" spc="75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Maintenant</a:t>
            </a:r>
            <a:endParaRPr lang="fr-FR" sz="1650" noProof="1"/>
          </a:p>
        </p:txBody>
      </p:sp>
      <p:sp>
        <p:nvSpPr>
          <p:cNvPr id="11" name="Text 9"/>
          <p:cNvSpPr/>
          <p:nvPr/>
        </p:nvSpPr>
        <p:spPr>
          <a:xfrm>
            <a:off x="1143000" y="3371850"/>
            <a:ext cx="454559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1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Validation du comportement</a:t>
            </a:r>
            <a:endParaRPr lang="fr-FR" sz="3150" noProof="1"/>
          </a:p>
        </p:txBody>
      </p:sp>
      <p:sp>
        <p:nvSpPr>
          <p:cNvPr id="12" name="Text 10"/>
          <p:cNvSpPr/>
          <p:nvPr/>
        </p:nvSpPr>
        <p:spPr>
          <a:xfrm>
            <a:off x="1143000" y="4400550"/>
            <a:ext cx="454559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fr-FR" sz="1950" i="1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"Marie crée un voyage et partage le lien sans ouvrir ses Notes iPhone."</a:t>
            </a:r>
            <a:endParaRPr lang="fr-FR" sz="1950" noProof="1"/>
          </a:p>
        </p:txBody>
      </p:sp>
      <p:sp>
        <p:nvSpPr>
          <p:cNvPr id="13" name="Text 11"/>
          <p:cNvSpPr/>
          <p:nvPr/>
        </p:nvSpPr>
        <p:spPr>
          <a:xfrm>
            <a:off x="1143000" y="545782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14" name="Text 12"/>
          <p:cNvSpPr/>
          <p:nvPr/>
        </p:nvSpPr>
        <p:spPr>
          <a:xfrm>
            <a:off x="1430834" y="5410200"/>
            <a:ext cx="31944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Création voyage + étapes</a:t>
            </a:r>
            <a:endParaRPr lang="fr-FR" sz="1950" noProof="1"/>
          </a:p>
        </p:txBody>
      </p:sp>
      <p:sp>
        <p:nvSpPr>
          <p:cNvPr id="15" name="Text 13"/>
          <p:cNvSpPr/>
          <p:nvPr/>
        </p:nvSpPr>
        <p:spPr>
          <a:xfrm>
            <a:off x="1143000" y="592455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16" name="Text 14"/>
          <p:cNvSpPr/>
          <p:nvPr/>
        </p:nvSpPr>
        <p:spPr>
          <a:xfrm>
            <a:off x="1430834" y="5876925"/>
            <a:ext cx="308955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Checklists auto par type</a:t>
            </a:r>
            <a:endParaRPr lang="fr-FR" sz="1950" noProof="1"/>
          </a:p>
        </p:txBody>
      </p:sp>
      <p:sp>
        <p:nvSpPr>
          <p:cNvPr id="17" name="Text 15"/>
          <p:cNvSpPr/>
          <p:nvPr/>
        </p:nvSpPr>
        <p:spPr>
          <a:xfrm>
            <a:off x="1143000" y="639127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18" name="Text 16"/>
          <p:cNvSpPr/>
          <p:nvPr/>
        </p:nvSpPr>
        <p:spPr>
          <a:xfrm>
            <a:off x="1430834" y="6343650"/>
            <a:ext cx="302603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statut global</a:t>
            </a:r>
            <a:endParaRPr lang="fr-FR" sz="1950" noProof="1"/>
          </a:p>
        </p:txBody>
      </p:sp>
      <p:sp>
        <p:nvSpPr>
          <p:cNvPr id="19" name="Text 17"/>
          <p:cNvSpPr/>
          <p:nvPr/>
        </p:nvSpPr>
        <p:spPr>
          <a:xfrm>
            <a:off x="1143000" y="685800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20" name="Text 18"/>
          <p:cNvSpPr/>
          <p:nvPr/>
        </p:nvSpPr>
        <p:spPr>
          <a:xfrm>
            <a:off x="1430834" y="6810375"/>
            <a:ext cx="33287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Partage partenaire par lien</a:t>
            </a:r>
            <a:endParaRPr lang="fr-FR" sz="1950" noProof="1"/>
          </a:p>
        </p:txBody>
      </p:sp>
      <p:sp>
        <p:nvSpPr>
          <p:cNvPr id="21" name="Shape 19"/>
          <p:cNvSpPr/>
          <p:nvPr/>
        </p:nvSpPr>
        <p:spPr>
          <a:xfrm>
            <a:off x="6242000" y="2790825"/>
            <a:ext cx="9525" cy="6124575"/>
          </a:xfrm>
          <a:prstGeom prst="rect">
            <a:avLst/>
          </a:prstGeom>
          <a:solidFill>
            <a:srgbClr val="5C4742">
              <a:alpha val="10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2" name="Shape 20"/>
          <p:cNvSpPr/>
          <p:nvPr/>
        </p:nvSpPr>
        <p:spPr>
          <a:xfrm>
            <a:off x="6937325" y="2790825"/>
            <a:ext cx="611237" cy="409575"/>
          </a:xfrm>
          <a:prstGeom prst="roundRect">
            <a:avLst>
              <a:gd name="adj" fmla="val 4651"/>
            </a:avLst>
          </a:prstGeom>
          <a:ln w="9525">
            <a:solidFill>
              <a:srgbClr val="1C171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23" name="Text 21"/>
          <p:cNvSpPr/>
          <p:nvPr/>
        </p:nvSpPr>
        <p:spPr>
          <a:xfrm>
            <a:off x="7080200" y="2847975"/>
            <a:ext cx="4016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b="1" kern="0" spc="1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V2</a:t>
            </a:r>
            <a:endParaRPr lang="fr-FR" sz="1800" noProof="1"/>
          </a:p>
        </p:txBody>
      </p:sp>
      <p:sp>
        <p:nvSpPr>
          <p:cNvPr id="24" name="Text 22"/>
          <p:cNvSpPr/>
          <p:nvPr/>
        </p:nvSpPr>
        <p:spPr>
          <a:xfrm>
            <a:off x="7662863" y="2857500"/>
            <a:ext cx="7871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650" kern="0" spc="75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mois</a:t>
            </a:r>
            <a:endParaRPr lang="fr-FR" sz="1650" noProof="1"/>
          </a:p>
        </p:txBody>
      </p:sp>
      <p:sp>
        <p:nvSpPr>
          <p:cNvPr id="25" name="Text 23"/>
          <p:cNvSpPr/>
          <p:nvPr/>
        </p:nvSpPr>
        <p:spPr>
          <a:xfrm>
            <a:off x="6937325" y="3390900"/>
            <a:ext cx="454559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1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Rétention long terme</a:t>
            </a:r>
            <a:endParaRPr lang="fr-FR" sz="3150" noProof="1"/>
          </a:p>
        </p:txBody>
      </p:sp>
      <p:sp>
        <p:nvSpPr>
          <p:cNvPr id="26" name="Text 24"/>
          <p:cNvSpPr/>
          <p:nvPr/>
        </p:nvSpPr>
        <p:spPr>
          <a:xfrm>
            <a:off x="6937325" y="4419600"/>
            <a:ext cx="48545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fr-FR" sz="1950" i="1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"Allset s'adapte à ma famille."</a:t>
            </a:r>
            <a:endParaRPr lang="fr-FR" sz="1950" noProof="1"/>
          </a:p>
        </p:txBody>
      </p:sp>
      <p:sp>
        <p:nvSpPr>
          <p:cNvPr id="27" name="Text 25"/>
          <p:cNvSpPr/>
          <p:nvPr/>
        </p:nvSpPr>
        <p:spPr>
          <a:xfrm>
            <a:off x="6937325" y="508635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28" name="Text 26"/>
          <p:cNvSpPr/>
          <p:nvPr/>
        </p:nvSpPr>
        <p:spPr>
          <a:xfrm>
            <a:off x="7225159" y="5038725"/>
            <a:ext cx="28808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Templates réutilisables</a:t>
            </a:r>
            <a:endParaRPr lang="fr-FR" sz="1950" noProof="1"/>
          </a:p>
        </p:txBody>
      </p:sp>
      <p:sp>
        <p:nvSpPr>
          <p:cNvPr id="29" name="Text 27"/>
          <p:cNvSpPr/>
          <p:nvPr/>
        </p:nvSpPr>
        <p:spPr>
          <a:xfrm>
            <a:off x="6937325" y="555307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30" name="Text 28"/>
          <p:cNvSpPr/>
          <p:nvPr/>
        </p:nvSpPr>
        <p:spPr>
          <a:xfrm>
            <a:off x="7225159" y="5505450"/>
            <a:ext cx="27920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Assignation de tâches</a:t>
            </a:r>
            <a:endParaRPr lang="fr-FR" sz="1950" noProof="1"/>
          </a:p>
        </p:txBody>
      </p:sp>
      <p:sp>
        <p:nvSpPr>
          <p:cNvPr id="31" name="Text 29"/>
          <p:cNvSpPr/>
          <p:nvPr/>
        </p:nvSpPr>
        <p:spPr>
          <a:xfrm>
            <a:off x="6937325" y="601980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32" name="Text 30"/>
          <p:cNvSpPr/>
          <p:nvPr/>
        </p:nvSpPr>
        <p:spPr>
          <a:xfrm>
            <a:off x="7225159" y="5972175"/>
            <a:ext cx="346215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 famille + rappels J-30</a:t>
            </a:r>
            <a:endParaRPr lang="fr-FR" sz="1950" noProof="1"/>
          </a:p>
        </p:txBody>
      </p:sp>
      <p:sp>
        <p:nvSpPr>
          <p:cNvPr id="33" name="Shape 31"/>
          <p:cNvSpPr/>
          <p:nvPr/>
        </p:nvSpPr>
        <p:spPr>
          <a:xfrm>
            <a:off x="12036326" y="2790825"/>
            <a:ext cx="9525" cy="6124575"/>
          </a:xfrm>
          <a:prstGeom prst="rect">
            <a:avLst/>
          </a:prstGeom>
          <a:solidFill>
            <a:srgbClr val="5C4742">
              <a:alpha val="8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4" name="Shape 32"/>
          <p:cNvSpPr/>
          <p:nvPr/>
        </p:nvSpPr>
        <p:spPr>
          <a:xfrm>
            <a:off x="12731651" y="2790825"/>
            <a:ext cx="617786" cy="409575"/>
          </a:xfrm>
          <a:prstGeom prst="roundRect">
            <a:avLst>
              <a:gd name="adj" fmla="val 4651"/>
            </a:avLst>
          </a:prstGeom>
          <a:ln w="9525">
            <a:solidFill>
              <a:srgbClr val="1C171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35" name="Text 33"/>
          <p:cNvSpPr/>
          <p:nvPr/>
        </p:nvSpPr>
        <p:spPr>
          <a:xfrm>
            <a:off x="12874526" y="2847975"/>
            <a:ext cx="4082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b="1" kern="0" spc="150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V3</a:t>
            </a:r>
            <a:endParaRPr lang="fr-FR" sz="1800" noProof="1"/>
          </a:p>
        </p:txBody>
      </p:sp>
      <p:sp>
        <p:nvSpPr>
          <p:cNvPr id="36" name="Text 34"/>
          <p:cNvSpPr/>
          <p:nvPr/>
        </p:nvSpPr>
        <p:spPr>
          <a:xfrm>
            <a:off x="13463736" y="2857500"/>
            <a:ext cx="1212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650" kern="0" spc="75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12–18 mois</a:t>
            </a:r>
            <a:endParaRPr lang="fr-FR" sz="1650" noProof="1"/>
          </a:p>
        </p:txBody>
      </p:sp>
      <p:sp>
        <p:nvSpPr>
          <p:cNvPr id="37" name="Text 35"/>
          <p:cNvSpPr/>
          <p:nvPr/>
        </p:nvSpPr>
        <p:spPr>
          <a:xfrm>
            <a:off x="12731651" y="3390900"/>
            <a:ext cx="4545596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1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Automatisation poussée</a:t>
            </a:r>
            <a:endParaRPr lang="fr-FR" sz="3150" noProof="1"/>
          </a:p>
        </p:txBody>
      </p:sp>
      <p:sp>
        <p:nvSpPr>
          <p:cNvPr id="38" name="Text 36"/>
          <p:cNvSpPr/>
          <p:nvPr/>
        </p:nvSpPr>
        <p:spPr>
          <a:xfrm>
            <a:off x="12731651" y="4419600"/>
            <a:ext cx="4545596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fr-FR" sz="1950" i="1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"Allset anticipe — je n'ai presque rien à saisir."</a:t>
            </a:r>
            <a:endParaRPr lang="fr-FR" sz="1950" noProof="1"/>
          </a:p>
        </p:txBody>
      </p:sp>
      <p:sp>
        <p:nvSpPr>
          <p:cNvPr id="39" name="Text 37"/>
          <p:cNvSpPr/>
          <p:nvPr/>
        </p:nvSpPr>
        <p:spPr>
          <a:xfrm>
            <a:off x="12731651" y="547687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40" name="Text 38"/>
          <p:cNvSpPr/>
          <p:nvPr/>
        </p:nvSpPr>
        <p:spPr>
          <a:xfrm>
            <a:off x="13019484" y="5429250"/>
            <a:ext cx="297462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 email / PDF auto</a:t>
            </a:r>
            <a:endParaRPr lang="fr-FR" sz="1950" noProof="1"/>
          </a:p>
        </p:txBody>
      </p:sp>
      <p:sp>
        <p:nvSpPr>
          <p:cNvPr id="41" name="Text 39"/>
          <p:cNvSpPr/>
          <p:nvPr/>
        </p:nvSpPr>
        <p:spPr>
          <a:xfrm>
            <a:off x="12731651" y="594360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42" name="Text 40"/>
          <p:cNvSpPr/>
          <p:nvPr/>
        </p:nvSpPr>
        <p:spPr>
          <a:xfrm>
            <a:off x="13019484" y="5895975"/>
            <a:ext cx="186319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 veille J-1</a:t>
            </a:r>
            <a:endParaRPr lang="fr-FR" sz="1950" noProof="1"/>
          </a:p>
        </p:txBody>
      </p:sp>
      <p:sp>
        <p:nvSpPr>
          <p:cNvPr id="43" name="Text 41"/>
          <p:cNvSpPr/>
          <p:nvPr/>
        </p:nvSpPr>
        <p:spPr>
          <a:xfrm>
            <a:off x="12731651" y="641032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44" name="Text 42"/>
          <p:cNvSpPr/>
          <p:nvPr/>
        </p:nvSpPr>
        <p:spPr>
          <a:xfrm>
            <a:off x="13019484" y="6362700"/>
            <a:ext cx="33238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Réactivation voyage passé</a:t>
            </a:r>
            <a:endParaRPr lang="fr-FR" sz="1950" noProof="1"/>
          </a:p>
        </p:txBody>
      </p:sp>
      <p:sp>
        <p:nvSpPr>
          <p:cNvPr id="45" name="Shape 43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6" name="Text 44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47" name="Text 45"/>
          <p:cNvSpPr/>
          <p:nvPr/>
        </p:nvSpPr>
        <p:spPr>
          <a:xfrm>
            <a:off x="16607730" y="9420225"/>
            <a:ext cx="613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· 11</a:t>
            </a:r>
            <a:endParaRPr lang="fr-FR" sz="1800" noProof="1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80825CCC-21A9-6322-0445-40EB62F5D1D7}"/>
              </a:ext>
            </a:extLst>
          </p:cNvPr>
          <p:cNvSpPr/>
          <p:nvPr/>
        </p:nvSpPr>
        <p:spPr>
          <a:xfrm>
            <a:off x="1123950" y="7334250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8D5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FE0C88C9-9234-6B7F-E0F7-AC17071EB55F}"/>
              </a:ext>
            </a:extLst>
          </p:cNvPr>
          <p:cNvSpPr/>
          <p:nvPr/>
        </p:nvSpPr>
        <p:spPr>
          <a:xfrm>
            <a:off x="1427550" y="7239327"/>
            <a:ext cx="33287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950" i="1" noProof="1">
                <a:solidFill>
                  <a:srgbClr val="FF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Rappels automatisés tous les matins des actions ouvertes (WIP)</a:t>
            </a:r>
            <a:endParaRPr lang="fr-FR" sz="1950" i="1" noProof="1">
              <a:solidFill>
                <a:srgbClr val="FF0000"/>
              </a:solidFill>
            </a:endParaRPr>
          </a:p>
        </p:txBody>
      </p:sp>
      <p:sp>
        <p:nvSpPr>
          <p:cNvPr id="50" name="Text 41">
            <a:extLst>
              <a:ext uri="{FF2B5EF4-FFF2-40B4-BE49-F238E27FC236}">
                <a16:creationId xmlns:a16="http://schemas.microsoft.com/office/drawing/2014/main" id="{69D2DCB3-00F3-CF7E-F759-4CF29DD17F7C}"/>
              </a:ext>
            </a:extLst>
          </p:cNvPr>
          <p:cNvSpPr/>
          <p:nvPr/>
        </p:nvSpPr>
        <p:spPr>
          <a:xfrm>
            <a:off x="12731651" y="6829425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51" name="Text 42">
            <a:extLst>
              <a:ext uri="{FF2B5EF4-FFF2-40B4-BE49-F238E27FC236}">
                <a16:creationId xmlns:a16="http://schemas.microsoft.com/office/drawing/2014/main" id="{51C25A33-FFA3-69FB-FD2B-6A79773CC306}"/>
              </a:ext>
            </a:extLst>
          </p:cNvPr>
          <p:cNvSpPr/>
          <p:nvPr/>
        </p:nvSpPr>
        <p:spPr>
          <a:xfrm>
            <a:off x="13019484" y="6781800"/>
            <a:ext cx="33238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RAG : suggestions d’itinéraires par destination / durée -&gt; une agence de voyage dans sa poche !</a:t>
            </a:r>
            <a:endParaRPr lang="fr-FR" noProof="1"/>
          </a:p>
        </p:txBody>
      </p:sp>
      <p:sp>
        <p:nvSpPr>
          <p:cNvPr id="53" name="Text 41">
            <a:extLst>
              <a:ext uri="{FF2B5EF4-FFF2-40B4-BE49-F238E27FC236}">
                <a16:creationId xmlns:a16="http://schemas.microsoft.com/office/drawing/2014/main" id="{0B07C443-F31B-9880-EC55-3A404559F532}"/>
              </a:ext>
            </a:extLst>
          </p:cNvPr>
          <p:cNvSpPr/>
          <p:nvPr/>
        </p:nvSpPr>
        <p:spPr>
          <a:xfrm>
            <a:off x="6918276" y="6477328"/>
            <a:ext cx="268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fr-FR" sz="1800" noProof="1"/>
          </a:p>
        </p:txBody>
      </p:sp>
      <p:sp>
        <p:nvSpPr>
          <p:cNvPr id="54" name="Text 42">
            <a:extLst>
              <a:ext uri="{FF2B5EF4-FFF2-40B4-BE49-F238E27FC236}">
                <a16:creationId xmlns:a16="http://schemas.microsoft.com/office/drawing/2014/main" id="{DC103309-504E-B4CC-7F34-5CAB6AC6E77D}"/>
              </a:ext>
            </a:extLst>
          </p:cNvPr>
          <p:cNvSpPr/>
          <p:nvPr/>
        </p:nvSpPr>
        <p:spPr>
          <a:xfrm>
            <a:off x="7206109" y="6429703"/>
            <a:ext cx="332382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noProof="1">
                <a:solidFill>
                  <a:srgbClr val="5C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Personnalisation avec un agent IA qui génère les bons templates par type de voyage</a:t>
            </a:r>
            <a:endParaRPr lang="fr-FR" noProof="1"/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75B2A741-039C-DA28-8715-89CB4E3C9A2B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chemeClr val="bg1">
                    <a:lumMod val="85000"/>
                  </a:scheme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7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63CED-035F-425B-7033-00E7DC5D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02E4F2-7697-EBC0-B736-1D1C43066CD6}"/>
              </a:ext>
            </a:extLst>
          </p:cNvPr>
          <p:cNvSpPr/>
          <p:nvPr/>
        </p:nvSpPr>
        <p:spPr>
          <a:xfrm>
            <a:off x="12553950" y="4552950"/>
            <a:ext cx="7639050" cy="7639050"/>
          </a:xfrm>
          <a:prstGeom prst="ellipse">
            <a:avLst/>
          </a:prstGeom>
          <a:ln w="9525">
            <a:solidFill>
              <a:srgbClr val="C4BBAF">
                <a:alpha val="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073902-FD8F-5412-E68D-57CEE8206006}"/>
              </a:ext>
            </a:extLst>
          </p:cNvPr>
          <p:cNvSpPr/>
          <p:nvPr/>
        </p:nvSpPr>
        <p:spPr>
          <a:xfrm>
            <a:off x="1143000" y="3321844"/>
            <a:ext cx="1177290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0" i="1" kern="0" spc="-75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</a:rPr>
              <a:t>ANNEXES</a:t>
            </a:r>
            <a:endParaRPr kumimoji="0" lang="fr-FR" sz="6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69B883E-3DA0-FCDC-2FA0-D30D23DAB1B6}"/>
              </a:ext>
            </a:extLst>
          </p:cNvPr>
          <p:cNvSpPr/>
          <p:nvPr/>
        </p:nvSpPr>
        <p:spPr>
          <a:xfrm>
            <a:off x="1143000" y="5493544"/>
            <a:ext cx="3810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5BC84F-347E-F4C7-4B33-D9243597461E}"/>
              </a:ext>
            </a:extLst>
          </p:cNvPr>
          <p:cNvSpPr/>
          <p:nvPr/>
        </p:nvSpPr>
        <p:spPr>
          <a:xfrm>
            <a:off x="1143000" y="6003131"/>
            <a:ext cx="37386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225" normalizeH="0" baseline="0" noProof="1">
                <a:ln>
                  <a:noFill/>
                </a:ln>
                <a:solidFill>
                  <a:srgbClr val="F5F0E8">
                    <a:alpha val="22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AMBITION</a:t>
            </a: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6384BA-6D66-1C2F-0620-B9C96706372B}"/>
              </a:ext>
            </a:extLst>
          </p:cNvPr>
          <p:cNvSpPr/>
          <p:nvPr/>
        </p:nvSpPr>
        <p:spPr>
          <a:xfrm>
            <a:off x="5303788" y="6003131"/>
            <a:ext cx="48147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225" normalizeH="0" baseline="0" noProof="1">
                <a:ln>
                  <a:noFill/>
                </a:ln>
                <a:solidFill>
                  <a:srgbClr val="F5F0E8">
                    <a:alpha val="22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COMMENT ÇA MARCHE</a:t>
            </a: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62D73C6-9266-E665-1900-2689505904AA}"/>
              </a:ext>
            </a:extLst>
          </p:cNvPr>
          <p:cNvSpPr/>
          <p:nvPr/>
        </p:nvSpPr>
        <p:spPr>
          <a:xfrm>
            <a:off x="10442823" y="6003131"/>
            <a:ext cx="2343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225" normalizeH="0" baseline="0" noProof="1">
                <a:ln>
                  <a:noFill/>
                </a:ln>
                <a:solidFill>
                  <a:srgbClr val="F5F0E8">
                    <a:alpha val="22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MOMENT AHA</a:t>
            </a: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6AC7834-92DB-F57E-C787-A317B41513E7}"/>
              </a:ext>
            </a:extLst>
          </p:cNvPr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5E7051-0A1D-E3CA-EA23-DC4915DC2779}"/>
              </a:ext>
            </a:extLst>
          </p:cNvPr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188" normalizeH="0" baseline="0" noProof="1">
                <a:ln>
                  <a:noFill/>
                </a:ln>
                <a:solidFill>
                  <a:srgbClr val="F5F0E8">
                    <a:alpha val="18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874E3BD-F674-1CDC-EA12-2E9321949F36}"/>
              </a:ext>
            </a:extLst>
          </p:cNvPr>
          <p:cNvSpPr/>
          <p:nvPr/>
        </p:nvSpPr>
        <p:spPr>
          <a:xfrm>
            <a:off x="16692711" y="9420225"/>
            <a:ext cx="5284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1">
                <a:ln>
                  <a:noFill/>
                </a:ln>
                <a:solidFill>
                  <a:srgbClr val="F5F0E8">
                    <a:alpha val="13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11 · 11</a:t>
            </a: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CFDFA85-BA9E-107A-8E60-15A290722EFD}"/>
              </a:ext>
            </a:extLst>
          </p:cNvPr>
          <p:cNvSpPr/>
          <p:nvPr/>
        </p:nvSpPr>
        <p:spPr>
          <a:xfrm>
            <a:off x="14349516" y="6003131"/>
            <a:ext cx="2343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225" normalizeH="0" baseline="0" noProof="1">
                <a:ln>
                  <a:noFill/>
                </a:ln>
                <a:solidFill>
                  <a:srgbClr val="F5F0E8">
                    <a:alpha val="22000"/>
                  </a:srgbClr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INTERFACE</a:t>
            </a:r>
            <a:endParaRPr kumimoji="0" lang="fr-FR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5EA055-2A5A-853C-023E-1D0AFF41B5A2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chemeClr val="bg1">
                    <a:lumMod val="85000"/>
                  </a:scheme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142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553950" y="4552950"/>
            <a:ext cx="7639050" cy="7639050"/>
          </a:xfrm>
          <a:prstGeom prst="ellipse">
            <a:avLst/>
          </a:prstGeom>
          <a:ln w="9525">
            <a:solidFill>
              <a:srgbClr val="C4BBA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3" name="Shape 1"/>
          <p:cNvSpPr/>
          <p:nvPr/>
        </p:nvSpPr>
        <p:spPr>
          <a:xfrm>
            <a:off x="14077950" y="6076950"/>
            <a:ext cx="5353050" cy="5353050"/>
          </a:xfrm>
          <a:prstGeom prst="ellipse">
            <a:avLst/>
          </a:prstGeom>
          <a:ln w="9525">
            <a:solidFill>
              <a:srgbClr val="8D5B4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5" name="Text 3"/>
          <p:cNvSpPr/>
          <p:nvPr/>
        </p:nvSpPr>
        <p:spPr>
          <a:xfrm>
            <a:off x="16175385" y="800100"/>
            <a:ext cx="10458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VISION</a:t>
            </a:r>
            <a:endParaRPr lang="fr-FR" sz="1800" noProof="1"/>
          </a:p>
        </p:txBody>
      </p:sp>
      <p:sp>
        <p:nvSpPr>
          <p:cNvPr id="6" name="Text 4"/>
          <p:cNvSpPr/>
          <p:nvPr/>
        </p:nvSpPr>
        <p:spPr>
          <a:xfrm>
            <a:off x="1143000" y="2645569"/>
            <a:ext cx="1257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75" noProof="1">
                <a:solidFill>
                  <a:srgbClr val="8D5B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L'AMBITION</a:t>
            </a:r>
            <a:endParaRPr lang="fr-FR" sz="1800" noProof="1"/>
          </a:p>
        </p:txBody>
      </p:sp>
      <p:sp>
        <p:nvSpPr>
          <p:cNvPr id="7" name="Text 5"/>
          <p:cNvSpPr/>
          <p:nvPr/>
        </p:nvSpPr>
        <p:spPr>
          <a:xfrm>
            <a:off x="1143000" y="3321844"/>
            <a:ext cx="11772900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6000" i="1" kern="0" spc="-75" noProof="1">
                <a:solidFill>
                  <a:srgbClr val="F5F0E8"/>
                </a:solidFill>
                <a:latin typeface="Playfair Display" panose="00000500000000000000" pitchFamily="2" charset="0"/>
                <a:ea typeface="Cormorant Garamond" pitchFamily="34" charset="-122"/>
                <a:cs typeface="Cormorant Garamond" pitchFamily="34" charset="-120"/>
              </a:rPr>
              <a:t>"Allset devient le carnet de voyage de toutes les familles."</a:t>
            </a:r>
            <a:endParaRPr lang="fr-FR" sz="6000" noProof="1">
              <a:latin typeface="Playfair Display" panose="000005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43000" y="5493544"/>
            <a:ext cx="381000" cy="14288"/>
          </a:xfrm>
          <a:prstGeom prst="rect">
            <a:avLst/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1143000" y="6003131"/>
            <a:ext cx="37386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225" noProof="1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</a:t>
            </a:r>
            <a:endParaRPr lang="fr-FR" sz="1800" noProof="1"/>
          </a:p>
        </p:txBody>
      </p:sp>
      <p:sp>
        <p:nvSpPr>
          <p:cNvPr id="10" name="Text 8"/>
          <p:cNvSpPr/>
          <p:nvPr/>
        </p:nvSpPr>
        <p:spPr>
          <a:xfrm>
            <a:off x="1143000" y="6393656"/>
            <a:ext cx="3500752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fr-FR" sz="2100" noProof="1">
                <a:solidFill>
                  <a:srgbClr val="F5F0E8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Freemium · abonnement famille B2B2C agences de voyage</a:t>
            </a:r>
            <a:endParaRPr lang="fr-FR" sz="2100" noProof="1"/>
          </a:p>
        </p:txBody>
      </p:sp>
      <p:sp>
        <p:nvSpPr>
          <p:cNvPr id="11" name="Text 9"/>
          <p:cNvSpPr/>
          <p:nvPr/>
        </p:nvSpPr>
        <p:spPr>
          <a:xfrm>
            <a:off x="5303788" y="6003131"/>
            <a:ext cx="48147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225" noProof="1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VIRALITÉ</a:t>
            </a:r>
            <a:endParaRPr lang="fr-FR" sz="1800" noProof="1"/>
          </a:p>
        </p:txBody>
      </p:sp>
      <p:sp>
        <p:nvSpPr>
          <p:cNvPr id="12" name="Text 10"/>
          <p:cNvSpPr/>
          <p:nvPr/>
        </p:nvSpPr>
        <p:spPr>
          <a:xfrm>
            <a:off x="5303788" y="6393656"/>
            <a:ext cx="4508346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fr-FR" sz="2100" noProof="1">
                <a:solidFill>
                  <a:srgbClr val="F5F0E8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lien partagé est une invitation — le partenaire devient utilisateur</a:t>
            </a:r>
            <a:endParaRPr lang="fr-FR" sz="2100" noProof="1"/>
          </a:p>
        </p:txBody>
      </p:sp>
      <p:sp>
        <p:nvSpPr>
          <p:cNvPr id="13" name="Text 11"/>
          <p:cNvSpPr/>
          <p:nvPr/>
        </p:nvSpPr>
        <p:spPr>
          <a:xfrm>
            <a:off x="10442823" y="6003131"/>
            <a:ext cx="2343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225" noProof="1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</a:t>
            </a:r>
            <a:endParaRPr lang="fr-FR" sz="1800" noProof="1"/>
          </a:p>
        </p:txBody>
      </p:sp>
      <p:sp>
        <p:nvSpPr>
          <p:cNvPr id="14" name="Text 12"/>
          <p:cNvSpPr/>
          <p:nvPr/>
        </p:nvSpPr>
        <p:spPr>
          <a:xfrm>
            <a:off x="10442823" y="6393656"/>
            <a:ext cx="220637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fr-FR" sz="2100" u="sng" noProof="1">
                <a:solidFill>
                  <a:srgbClr val="0000EE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 </a:t>
            </a:r>
            <a:r>
              <a:rPr lang="fr-FR" sz="2100" noProof="1">
                <a:solidFill>
                  <a:srgbClr val="F5F0E8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allset.app</a:t>
            </a:r>
            <a:endParaRPr lang="fr-FR" sz="2100" noProof="1"/>
          </a:p>
        </p:txBody>
      </p:sp>
      <p:sp>
        <p:nvSpPr>
          <p:cNvPr id="15" name="Shape 13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6" name="Text 14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17" name="Text 15"/>
          <p:cNvSpPr/>
          <p:nvPr/>
        </p:nvSpPr>
        <p:spPr>
          <a:xfrm>
            <a:off x="16692711" y="9420225"/>
            <a:ext cx="5284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· 11</a:t>
            </a:r>
            <a:endParaRPr lang="fr-FR" sz="1800" noProof="1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3784C4A7-84ED-93B2-EA43-ED1E8B41DAC4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chemeClr val="bg1">
                    <a:lumMod val="85000"/>
                  </a:scheme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964096" y="800100"/>
            <a:ext cx="349899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 ÇA MARCHE</a:t>
            </a:r>
            <a:endParaRPr lang="fr-FR" sz="1800" noProof="1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4200" i="1" kern="0" spc="-37" noProof="1">
                <a:solidFill>
                  <a:srgbClr val="1C1714"/>
                </a:solidFill>
                <a:latin typeface="Playfair Display" panose="00000500000000000000" pitchFamily="2" charset="0"/>
                <a:ea typeface="Cormorant Garamond" pitchFamily="34" charset="-122"/>
                <a:cs typeface="Cormorant Garamond" pitchFamily="34" charset="-120"/>
              </a:rPr>
              <a:t>Simple. Immédiat. Réutilisable.</a:t>
            </a:r>
            <a:endParaRPr lang="fr-FR" sz="4200" i="1" noProof="1">
              <a:latin typeface="Playfair Display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43000" y="2533650"/>
            <a:ext cx="514350" cy="514350"/>
          </a:xfrm>
          <a:prstGeom prst="ellipse">
            <a:avLst/>
          </a:prstGeom>
          <a:ln w="9525">
            <a:solidFill>
              <a:srgbClr val="5C47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6" name="Text 4"/>
          <p:cNvSpPr/>
          <p:nvPr/>
        </p:nvSpPr>
        <p:spPr>
          <a:xfrm>
            <a:off x="1346299" y="2628900"/>
            <a:ext cx="1838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2550" b="1" noProof="1">
                <a:solidFill>
                  <a:srgbClr val="8D5B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fr-FR" sz="2550" noProof="1"/>
          </a:p>
        </p:txBody>
      </p:sp>
      <p:sp>
        <p:nvSpPr>
          <p:cNvPr id="7" name="Shape 5"/>
          <p:cNvSpPr/>
          <p:nvPr/>
        </p:nvSpPr>
        <p:spPr>
          <a:xfrm>
            <a:off x="1809750" y="2786063"/>
            <a:ext cx="3460700" cy="9525"/>
          </a:xfrm>
          <a:prstGeom prst="rect">
            <a:avLst/>
          </a:prstGeom>
          <a:solidFill>
            <a:srgbClr val="5C4742">
              <a:alpha val="1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" name="Text 6"/>
          <p:cNvSpPr/>
          <p:nvPr/>
        </p:nvSpPr>
        <p:spPr>
          <a:xfrm>
            <a:off x="1143000" y="3314700"/>
            <a:ext cx="4540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CRÉER</a:t>
            </a:r>
            <a:endParaRPr lang="fr-FR" sz="1800" noProof="1"/>
          </a:p>
        </p:txBody>
      </p:sp>
      <p:sp>
        <p:nvSpPr>
          <p:cNvPr id="9" name="Text 7"/>
          <p:cNvSpPr/>
          <p:nvPr/>
        </p:nvSpPr>
        <p:spPr>
          <a:xfrm>
            <a:off x="1143000" y="3762375"/>
            <a:ext cx="425127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7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Vous créez votre voyage</a:t>
            </a:r>
            <a:endParaRPr lang="fr-FR" sz="3750" noProof="1"/>
          </a:p>
        </p:txBody>
      </p:sp>
      <p:sp>
        <p:nvSpPr>
          <p:cNvPr id="10" name="Text 8"/>
          <p:cNvSpPr/>
          <p:nvPr/>
        </p:nvSpPr>
        <p:spPr>
          <a:xfrm>
            <a:off x="1143000" y="5038725"/>
            <a:ext cx="4251274" cy="138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10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Titre, dates, destination, participants. Allset est prêt en moins d'une minute.</a:t>
            </a:r>
            <a:endParaRPr lang="fr-FR" sz="2100" noProof="1"/>
          </a:p>
        </p:txBody>
      </p:sp>
      <p:sp>
        <p:nvSpPr>
          <p:cNvPr id="11" name="Text 9"/>
          <p:cNvSpPr/>
          <p:nvPr/>
        </p:nvSpPr>
        <p:spPr>
          <a:xfrm>
            <a:off x="5880050" y="5010150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4650" noProof="1">
                <a:solidFill>
                  <a:srgbClr val="5C4742">
                    <a:alpha val="1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fr-FR" sz="4650" noProof="1"/>
          </a:p>
        </p:txBody>
      </p:sp>
      <p:sp>
        <p:nvSpPr>
          <p:cNvPr id="12" name="Shape 10"/>
          <p:cNvSpPr/>
          <p:nvPr/>
        </p:nvSpPr>
        <p:spPr>
          <a:xfrm>
            <a:off x="7080200" y="2533650"/>
            <a:ext cx="495300" cy="495300"/>
          </a:xfrm>
          <a:prstGeom prst="ellipse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3" name="Text 11"/>
          <p:cNvSpPr/>
          <p:nvPr/>
        </p:nvSpPr>
        <p:spPr>
          <a:xfrm>
            <a:off x="7262664" y="2619375"/>
            <a:ext cx="2064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2550" b="1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fr-FR" sz="2550" noProof="1"/>
          </a:p>
        </p:txBody>
      </p:sp>
      <p:sp>
        <p:nvSpPr>
          <p:cNvPr id="14" name="Shape 12"/>
          <p:cNvSpPr/>
          <p:nvPr/>
        </p:nvSpPr>
        <p:spPr>
          <a:xfrm>
            <a:off x="7727900" y="2776538"/>
            <a:ext cx="3479750" cy="9525"/>
          </a:xfrm>
          <a:prstGeom prst="rect">
            <a:avLst/>
          </a:prstGeom>
          <a:solidFill>
            <a:srgbClr val="5C4742">
              <a:alpha val="1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5" name="Text 13"/>
          <p:cNvSpPr/>
          <p:nvPr/>
        </p:nvSpPr>
        <p:spPr>
          <a:xfrm>
            <a:off x="7080200" y="3295650"/>
            <a:ext cx="4540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GÉNÉRER</a:t>
            </a:r>
            <a:endParaRPr lang="fr-FR" sz="1800" noProof="1"/>
          </a:p>
        </p:txBody>
      </p:sp>
      <p:sp>
        <p:nvSpPr>
          <p:cNvPr id="16" name="Text 14"/>
          <p:cNvSpPr/>
          <p:nvPr/>
        </p:nvSpPr>
        <p:spPr>
          <a:xfrm>
            <a:off x="7080200" y="3743325"/>
            <a:ext cx="425127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7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 génère vos checklists</a:t>
            </a:r>
            <a:endParaRPr lang="fr-FR" sz="3750" noProof="1"/>
          </a:p>
        </p:txBody>
      </p:sp>
      <p:sp>
        <p:nvSpPr>
          <p:cNvPr id="17" name="Text 15"/>
          <p:cNvSpPr/>
          <p:nvPr/>
        </p:nvSpPr>
        <p:spPr>
          <a:xfrm>
            <a:off x="7080200" y="5019675"/>
            <a:ext cx="4251274" cy="227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10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Automatiquement par type d'étape — vol, hôtel, location voiture, logement. Chaque étape a sa checklist pré-remplie et éditable.</a:t>
            </a:r>
            <a:endParaRPr lang="fr-FR" sz="2100" noProof="1"/>
          </a:p>
        </p:txBody>
      </p:sp>
      <p:sp>
        <p:nvSpPr>
          <p:cNvPr id="18" name="Text 16"/>
          <p:cNvSpPr/>
          <p:nvPr/>
        </p:nvSpPr>
        <p:spPr>
          <a:xfrm>
            <a:off x="11817251" y="5010150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4650" noProof="1">
                <a:solidFill>
                  <a:srgbClr val="5C4742">
                    <a:alpha val="18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fr-FR" sz="4650" noProof="1"/>
          </a:p>
        </p:txBody>
      </p:sp>
      <p:sp>
        <p:nvSpPr>
          <p:cNvPr id="19" name="Shape 17"/>
          <p:cNvSpPr/>
          <p:nvPr/>
        </p:nvSpPr>
        <p:spPr>
          <a:xfrm>
            <a:off x="13017401" y="2533650"/>
            <a:ext cx="514350" cy="514350"/>
          </a:xfrm>
          <a:prstGeom prst="ellipse">
            <a:avLst/>
          </a:prstGeom>
          <a:ln w="9525">
            <a:solidFill>
              <a:srgbClr val="5C474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20" name="Text 18"/>
          <p:cNvSpPr/>
          <p:nvPr/>
        </p:nvSpPr>
        <p:spPr>
          <a:xfrm>
            <a:off x="13211026" y="2628900"/>
            <a:ext cx="203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2550" b="1" noProof="1">
                <a:solidFill>
                  <a:srgbClr val="8D5B4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fr-FR" sz="2550" noProof="1"/>
          </a:p>
        </p:txBody>
      </p:sp>
      <p:sp>
        <p:nvSpPr>
          <p:cNvPr id="21" name="Shape 19"/>
          <p:cNvSpPr/>
          <p:nvPr/>
        </p:nvSpPr>
        <p:spPr>
          <a:xfrm>
            <a:off x="13684151" y="2786063"/>
            <a:ext cx="3460700" cy="9525"/>
          </a:xfrm>
          <a:prstGeom prst="rect">
            <a:avLst/>
          </a:prstGeom>
          <a:solidFill>
            <a:srgbClr val="5C4742">
              <a:alpha val="1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2" name="Text 20"/>
          <p:cNvSpPr/>
          <p:nvPr/>
        </p:nvSpPr>
        <p:spPr>
          <a:xfrm>
            <a:off x="13017401" y="3314700"/>
            <a:ext cx="45401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PARTAGER</a:t>
            </a:r>
            <a:endParaRPr lang="fr-FR" sz="1800" noProof="1"/>
          </a:p>
        </p:txBody>
      </p:sp>
      <p:sp>
        <p:nvSpPr>
          <p:cNvPr id="23" name="Text 21"/>
          <p:cNvSpPr/>
          <p:nvPr/>
        </p:nvSpPr>
        <p:spPr>
          <a:xfrm>
            <a:off x="13017401" y="3762375"/>
            <a:ext cx="4251274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750" kern="0" spc="-22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Vous partagez en un lien</a:t>
            </a:r>
            <a:endParaRPr lang="fr-FR" sz="3750" noProof="1"/>
          </a:p>
        </p:txBody>
      </p:sp>
      <p:sp>
        <p:nvSpPr>
          <p:cNvPr id="24" name="Text 22"/>
          <p:cNvSpPr/>
          <p:nvPr/>
        </p:nvSpPr>
        <p:spPr>
          <a:xfrm>
            <a:off x="13017401" y="5038725"/>
            <a:ext cx="4251274" cy="138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fr-FR" sz="2100" noProof="1">
                <a:solidFill>
                  <a:srgbClr val="6B65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Votre partenaire voit et coche sans télécharger d'app. Synchronisation en temps réel.</a:t>
            </a:r>
            <a:endParaRPr lang="fr-FR" sz="2100" noProof="1"/>
          </a:p>
        </p:txBody>
      </p:sp>
      <p:sp>
        <p:nvSpPr>
          <p:cNvPr id="25" name="Shape 23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6" name="Text 24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27" name="Text 25"/>
          <p:cNvSpPr/>
          <p:nvPr/>
        </p:nvSpPr>
        <p:spPr>
          <a:xfrm>
            <a:off x="16535549" y="9420225"/>
            <a:ext cx="6856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· 11</a:t>
            </a:r>
            <a:endParaRPr lang="fr-FR" sz="1800" noProof="1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FC433768-75BE-27B7-C4A3-A617AC63C3A8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chemeClr val="bg1">
                    <a:lumMod val="85000"/>
                  </a:scheme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4820454" y="800100"/>
            <a:ext cx="25570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1C1714">
                    <a:alpha val="2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MOMENT AHA</a:t>
            </a:r>
            <a:endParaRPr lang="fr-FR" sz="1800" noProof="1"/>
          </a:p>
        </p:txBody>
      </p:sp>
      <p:sp>
        <p:nvSpPr>
          <p:cNvPr id="4" name="Text 2"/>
          <p:cNvSpPr/>
          <p:nvPr/>
        </p:nvSpPr>
        <p:spPr>
          <a:xfrm>
            <a:off x="1143000" y="13239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4200" i="1" kern="0" spc="-37" noProof="1">
                <a:solidFill>
                  <a:srgbClr val="1C1714"/>
                </a:solidFill>
                <a:latin typeface="Playfair Display" panose="00000500000000000000" pitchFamily="2" charset="0"/>
                <a:ea typeface="Cormorant Garamond" pitchFamily="34" charset="-122"/>
                <a:cs typeface="Cormorant Garamond" pitchFamily="34" charset="-120"/>
              </a:rPr>
              <a:t>La valeur, dès la première étape créée.</a:t>
            </a:r>
            <a:endParaRPr lang="fr-FR" sz="4200" noProof="1">
              <a:latin typeface="Playfair Display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43000" y="4481513"/>
            <a:ext cx="6726436" cy="2333625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9525">
            <a:solidFill>
              <a:srgbClr val="5C4742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6" name="Text 4"/>
          <p:cNvSpPr/>
          <p:nvPr/>
        </p:nvSpPr>
        <p:spPr>
          <a:xfrm>
            <a:off x="1571625" y="4872038"/>
            <a:ext cx="64561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MARIE SAISIT</a:t>
            </a:r>
            <a:endParaRPr lang="fr-FR" sz="1800" noProof="1"/>
          </a:p>
        </p:txBody>
      </p:sp>
      <p:sp>
        <p:nvSpPr>
          <p:cNvPr id="7" name="Text 5"/>
          <p:cNvSpPr/>
          <p:nvPr/>
        </p:nvSpPr>
        <p:spPr>
          <a:xfrm>
            <a:off x="1571625" y="5357813"/>
            <a:ext cx="64561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fr-FR" sz="3150" i="1" kern="0" spc="-37" noProof="1">
                <a:solidFill>
                  <a:srgbClr val="1C171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 Paris → Barcelone</a:t>
            </a:r>
            <a:endParaRPr lang="fr-FR" sz="3150" noProof="1"/>
          </a:p>
        </p:txBody>
      </p:sp>
      <p:sp>
        <p:nvSpPr>
          <p:cNvPr id="8" name="Shape 6"/>
          <p:cNvSpPr/>
          <p:nvPr/>
        </p:nvSpPr>
        <p:spPr>
          <a:xfrm>
            <a:off x="1571625" y="6062663"/>
            <a:ext cx="361950" cy="361950"/>
          </a:xfrm>
          <a:prstGeom prst="ellipse">
            <a:avLst/>
          </a:prstGeom>
          <a:solidFill>
            <a:srgbClr val="F5F0E8"/>
          </a:solidFill>
          <a:ln w="9525">
            <a:solidFill>
              <a:srgbClr val="5C474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9" name="Text 7"/>
          <p:cNvSpPr/>
          <p:nvPr/>
        </p:nvSpPr>
        <p:spPr>
          <a:xfrm>
            <a:off x="1543050" y="6072188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fr-FR" sz="2100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</a:t>
            </a:r>
            <a:endParaRPr lang="fr-FR" sz="2100" noProof="1"/>
          </a:p>
        </p:txBody>
      </p:sp>
      <p:sp>
        <p:nvSpPr>
          <p:cNvPr id="10" name="Text 8"/>
          <p:cNvSpPr/>
          <p:nvPr/>
        </p:nvSpPr>
        <p:spPr>
          <a:xfrm>
            <a:off x="2047875" y="6067425"/>
            <a:ext cx="310477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: Vol · Sélectionné</a:t>
            </a:r>
            <a:endParaRPr lang="fr-FR" sz="2100" noProof="1"/>
          </a:p>
        </p:txBody>
      </p:sp>
      <p:sp>
        <p:nvSpPr>
          <p:cNvPr id="11" name="Shape 9"/>
          <p:cNvSpPr/>
          <p:nvPr/>
        </p:nvSpPr>
        <p:spPr>
          <a:xfrm>
            <a:off x="6768554" y="4643438"/>
            <a:ext cx="938957" cy="371475"/>
          </a:xfrm>
          <a:prstGeom prst="roundRect">
            <a:avLst>
              <a:gd name="adj" fmla="val 50000"/>
            </a:avLst>
          </a:prstGeom>
          <a:solidFill>
            <a:srgbClr val="F5F0E8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2" name="Text 10"/>
          <p:cNvSpPr/>
          <p:nvPr/>
        </p:nvSpPr>
        <p:spPr>
          <a:xfrm>
            <a:off x="6882854" y="4681538"/>
            <a:ext cx="7865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75" noProof="1">
                <a:solidFill>
                  <a:srgbClr val="A597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SAISIE</a:t>
            </a:r>
            <a:endParaRPr lang="fr-FR" sz="1800" noProof="1"/>
          </a:p>
        </p:txBody>
      </p:sp>
      <p:sp>
        <p:nvSpPr>
          <p:cNvPr id="13" name="Text 11"/>
          <p:cNvSpPr/>
          <p:nvPr/>
        </p:nvSpPr>
        <p:spPr>
          <a:xfrm>
            <a:off x="8555236" y="53435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4800" noProof="1">
                <a:solidFill>
                  <a:srgbClr val="1C1714">
                    <a:alpha val="1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fr-FR" sz="4800" noProof="1"/>
          </a:p>
        </p:txBody>
      </p:sp>
      <p:sp>
        <p:nvSpPr>
          <p:cNvPr id="14" name="Shape 12"/>
          <p:cNvSpPr/>
          <p:nvPr/>
        </p:nvSpPr>
        <p:spPr>
          <a:xfrm>
            <a:off x="9850636" y="3000375"/>
            <a:ext cx="7294364" cy="5295900"/>
          </a:xfrm>
          <a:prstGeom prst="roundRect">
            <a:avLst>
              <a:gd name="adj" fmla="val 540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5" name="Text 13"/>
          <p:cNvSpPr/>
          <p:nvPr/>
        </p:nvSpPr>
        <p:spPr>
          <a:xfrm>
            <a:off x="10269736" y="3381375"/>
            <a:ext cx="71017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C4BBAF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 GÉNÈRE INSTANTANÉMENT</a:t>
            </a:r>
            <a:endParaRPr lang="fr-FR" sz="1800" noProof="1"/>
          </a:p>
        </p:txBody>
      </p:sp>
      <p:sp>
        <p:nvSpPr>
          <p:cNvPr id="16" name="Text 14"/>
          <p:cNvSpPr/>
          <p:nvPr/>
        </p:nvSpPr>
        <p:spPr>
          <a:xfrm>
            <a:off x="10269736" y="3752850"/>
            <a:ext cx="71017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6000" b="1" kern="0" spc="-75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</a:t>
            </a:r>
            <a:endParaRPr lang="fr-FR" sz="6000" noProof="1"/>
          </a:p>
        </p:txBody>
      </p:sp>
      <p:sp>
        <p:nvSpPr>
          <p:cNvPr id="17" name="Text 15"/>
          <p:cNvSpPr/>
          <p:nvPr/>
        </p:nvSpPr>
        <p:spPr>
          <a:xfrm>
            <a:off x="10269736" y="4552950"/>
            <a:ext cx="710178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noProof="1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items de checklist</a:t>
            </a:r>
            <a:endParaRPr lang="fr-FR" sz="2100" noProof="1"/>
          </a:p>
        </p:txBody>
      </p:sp>
      <p:sp>
        <p:nvSpPr>
          <p:cNvPr id="18" name="Shape 16"/>
          <p:cNvSpPr/>
          <p:nvPr/>
        </p:nvSpPr>
        <p:spPr>
          <a:xfrm>
            <a:off x="10269736" y="525780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9" name="Text 17"/>
          <p:cNvSpPr/>
          <p:nvPr/>
        </p:nvSpPr>
        <p:spPr>
          <a:xfrm>
            <a:off x="10241459" y="5219700"/>
            <a:ext cx="2851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1800" b="1" noProof="1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fr-FR" sz="1800" noProof="1"/>
          </a:p>
        </p:txBody>
      </p:sp>
      <p:sp>
        <p:nvSpPr>
          <p:cNvPr id="20" name="Text 18"/>
          <p:cNvSpPr/>
          <p:nvPr/>
        </p:nvSpPr>
        <p:spPr>
          <a:xfrm>
            <a:off x="10536436" y="5172075"/>
            <a:ext cx="47842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1">
                <a:solidFill>
                  <a:srgbClr val="F5F0E8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Billet confirmé (n° réservation + email)</a:t>
            </a:r>
            <a:endParaRPr lang="fr-FR" sz="1950" noProof="1"/>
          </a:p>
        </p:txBody>
      </p:sp>
      <p:sp>
        <p:nvSpPr>
          <p:cNvPr id="21" name="Shape 19"/>
          <p:cNvSpPr/>
          <p:nvPr/>
        </p:nvSpPr>
        <p:spPr>
          <a:xfrm>
            <a:off x="10269736" y="567690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D5B4C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2" name="Text 20"/>
          <p:cNvSpPr/>
          <p:nvPr/>
        </p:nvSpPr>
        <p:spPr>
          <a:xfrm>
            <a:off x="10241459" y="5638800"/>
            <a:ext cx="2851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1800" b="1" noProof="1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fr-FR" sz="1800" noProof="1"/>
          </a:p>
        </p:txBody>
      </p:sp>
      <p:sp>
        <p:nvSpPr>
          <p:cNvPr id="23" name="Text 21"/>
          <p:cNvSpPr/>
          <p:nvPr/>
        </p:nvSpPr>
        <p:spPr>
          <a:xfrm>
            <a:off x="10536436" y="5591175"/>
            <a:ext cx="269419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1">
                <a:solidFill>
                  <a:srgbClr val="F5F0E8">
                    <a:alpha val="65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Check-in en ligne fait</a:t>
            </a:r>
            <a:endParaRPr lang="fr-FR" sz="1950" noProof="1"/>
          </a:p>
        </p:txBody>
      </p:sp>
      <p:sp>
        <p:nvSpPr>
          <p:cNvPr id="24" name="Shape 22"/>
          <p:cNvSpPr/>
          <p:nvPr/>
        </p:nvSpPr>
        <p:spPr>
          <a:xfrm>
            <a:off x="10269736" y="6086475"/>
            <a:ext cx="171450" cy="171450"/>
          </a:xfrm>
          <a:prstGeom prst="roundRect">
            <a:avLst>
              <a:gd name="adj" fmla="val 16667"/>
            </a:avLst>
          </a:prstGeom>
          <a:ln w="9525">
            <a:solidFill>
              <a:srgbClr val="C4BB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25" name="Text 23"/>
          <p:cNvSpPr/>
          <p:nvPr/>
        </p:nvSpPr>
        <p:spPr>
          <a:xfrm>
            <a:off x="10555486" y="6010275"/>
            <a:ext cx="44632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1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Autorisation de sortie du territoire…</a:t>
            </a:r>
            <a:endParaRPr lang="fr-FR" sz="1950" noProof="1"/>
          </a:p>
        </p:txBody>
      </p:sp>
      <p:sp>
        <p:nvSpPr>
          <p:cNvPr id="26" name="Shape 24"/>
          <p:cNvSpPr/>
          <p:nvPr/>
        </p:nvSpPr>
        <p:spPr>
          <a:xfrm>
            <a:off x="10269736" y="6505575"/>
            <a:ext cx="171450" cy="171450"/>
          </a:xfrm>
          <a:prstGeom prst="roundRect">
            <a:avLst>
              <a:gd name="adj" fmla="val 16667"/>
            </a:avLst>
          </a:prstGeom>
          <a:ln w="9525">
            <a:solidFill>
              <a:srgbClr val="C4BBA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27" name="Text 25"/>
          <p:cNvSpPr/>
          <p:nvPr/>
        </p:nvSpPr>
        <p:spPr>
          <a:xfrm>
            <a:off x="10555486" y="6429375"/>
            <a:ext cx="415367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950" noProof="1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Heure de présentation aéroport…</a:t>
            </a:r>
            <a:endParaRPr lang="fr-FR" sz="1950" noProof="1"/>
          </a:p>
        </p:txBody>
      </p:sp>
      <p:sp>
        <p:nvSpPr>
          <p:cNvPr id="28" name="Shape 26"/>
          <p:cNvSpPr/>
          <p:nvPr/>
        </p:nvSpPr>
        <p:spPr>
          <a:xfrm>
            <a:off x="10269736" y="6981825"/>
            <a:ext cx="6456164" cy="933450"/>
          </a:xfrm>
          <a:prstGeom prst="roundRect">
            <a:avLst>
              <a:gd name="adj" fmla="val 2041"/>
            </a:avLst>
          </a:prstGeom>
          <a:solidFill>
            <a:srgbClr val="8D5B4C">
              <a:alpha val="18000"/>
            </a:srgbClr>
          </a:solidFill>
          <a:ln w="9525">
            <a:solidFill>
              <a:srgbClr val="8D5B4C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29" name="Text 27"/>
          <p:cNvSpPr/>
          <p:nvPr/>
        </p:nvSpPr>
        <p:spPr>
          <a:xfrm>
            <a:off x="10431661" y="7105650"/>
            <a:ext cx="631628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fr-FR" sz="18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Dont </a:t>
            </a:r>
            <a:r>
              <a:rPr lang="fr-FR" sz="1800" noProof="1">
                <a:solidFill>
                  <a:srgbClr val="F5F0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items qu'elle aurait oubliés </a:t>
            </a:r>
            <a:r>
              <a:rPr lang="fr-FR" sz="18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documents enfants, autorisation sortie territoire</a:t>
            </a:r>
            <a:endParaRPr lang="fr-FR" sz="1800" noProof="1"/>
          </a:p>
        </p:txBody>
      </p:sp>
      <p:sp>
        <p:nvSpPr>
          <p:cNvPr id="30" name="Shape 28"/>
          <p:cNvSpPr/>
          <p:nvPr/>
        </p:nvSpPr>
        <p:spPr>
          <a:xfrm>
            <a:off x="1143000" y="9220200"/>
            <a:ext cx="16002000" cy="9525"/>
          </a:xfrm>
          <a:prstGeom prst="rect">
            <a:avLst/>
          </a:prstGeom>
          <a:solidFill>
            <a:srgbClr val="5C4742">
              <a:alpha val="1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1" name="Text 29"/>
          <p:cNvSpPr/>
          <p:nvPr/>
        </p:nvSpPr>
        <p:spPr>
          <a:xfrm>
            <a:off x="1143000" y="9420225"/>
            <a:ext cx="995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188" noProof="1">
                <a:solidFill>
                  <a:srgbClr val="1C1714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800" noProof="1"/>
          </a:p>
        </p:txBody>
      </p:sp>
      <p:sp>
        <p:nvSpPr>
          <p:cNvPr id="32" name="Text 30"/>
          <p:cNvSpPr/>
          <p:nvPr/>
        </p:nvSpPr>
        <p:spPr>
          <a:xfrm>
            <a:off x="16560105" y="9420225"/>
            <a:ext cx="6610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1C1714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· 11</a:t>
            </a:r>
            <a:endParaRPr lang="fr-FR" sz="1800" noProof="1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00FADBAE-1C8A-638B-29B8-643979E7EB96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chemeClr val="bg1">
                    <a:lumMod val="85000"/>
                  </a:scheme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43000" y="1466850"/>
            <a:ext cx="17602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4200" i="1" kern="0" spc="-37" noProof="1">
                <a:solidFill>
                  <a:srgbClr val="F5F0E8"/>
                </a:solidFill>
                <a:latin typeface="Playfair Display" panose="00000500000000000000" pitchFamily="2" charset="0"/>
                <a:ea typeface="Cormorant Garamond" pitchFamily="34" charset="-122"/>
                <a:cs typeface="Cormorant Garamond" pitchFamily="34" charset="-120"/>
              </a:rPr>
              <a:t>Trois écrans. Une seule logique.</a:t>
            </a:r>
            <a:endParaRPr lang="fr-FR" sz="4200" noProof="1">
              <a:latin typeface="Playfair Display" panose="000005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562034" y="3486150"/>
            <a:ext cx="2162175" cy="4276725"/>
          </a:xfrm>
          <a:prstGeom prst="roundRect">
            <a:avLst>
              <a:gd name="adj" fmla="val 18502"/>
            </a:avLst>
          </a:prstGeom>
          <a:solidFill>
            <a:srgbClr val="111111"/>
          </a:solidFill>
          <a:ln w="14288">
            <a:solidFill>
              <a:srgbClr val="C4BBAF">
                <a:alpha val="14000"/>
              </a:srgbClr>
            </a:solidFill>
            <a:prstDash val="solid"/>
          </a:ln>
          <a:effectLst>
            <a:outerShdw blurRad="685800" dist="266700" dir="5400000" algn="bl" rotWithShape="0">
              <a:srgbClr val="000000">
                <a:alpha val="65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6" name="Shape 4"/>
          <p:cNvSpPr/>
          <p:nvPr/>
        </p:nvSpPr>
        <p:spPr>
          <a:xfrm>
            <a:off x="2224022" y="3605213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08060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" name="Shape 5"/>
          <p:cNvSpPr/>
          <p:nvPr/>
        </p:nvSpPr>
        <p:spPr>
          <a:xfrm>
            <a:off x="1576322" y="3500438"/>
            <a:ext cx="2133600" cy="4248150"/>
          </a:xfrm>
          <a:prstGeom prst="roundRect">
            <a:avLst>
              <a:gd name="adj" fmla="val 18304"/>
            </a:avLst>
          </a:prstGeom>
          <a:solidFill>
            <a:srgbClr val="F0EBE1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" name="Shape 6"/>
          <p:cNvSpPr/>
          <p:nvPr/>
        </p:nvSpPr>
        <p:spPr>
          <a:xfrm>
            <a:off x="1576322" y="3500438"/>
            <a:ext cx="2133600" cy="1409700"/>
          </a:xfrm>
          <a:prstGeom prst="rect">
            <a:avLst/>
          </a:prstGeom>
          <a:gradFill rotWithShape="1">
            <a:gsLst>
              <a:gs pos="0">
                <a:srgbClr val="2E2010">
                  <a:alpha val="100000"/>
                </a:srgbClr>
              </a:gs>
              <a:gs pos="100000">
                <a:srgbClr val="6B4822">
                  <a:alpha val="100000"/>
                </a:srgbClr>
              </a:gs>
            </a:gsLst>
            <a:lin ang="3900000" scaled="0"/>
          </a:gra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" name="Shape 7"/>
          <p:cNvSpPr/>
          <p:nvPr/>
        </p:nvSpPr>
        <p:spPr>
          <a:xfrm>
            <a:off x="1576322" y="3500438"/>
            <a:ext cx="2133600" cy="1409700"/>
          </a:xfrm>
          <a:prstGeom prst="rect">
            <a:avLst/>
          </a:prstGeom>
          <a:gradFill rotWithShape="1">
            <a:gsLst>
              <a:gs pos="0">
                <a:srgbClr val="000000">
                  <a:alpha val="72000"/>
                </a:srgbClr>
              </a:gs>
              <a:gs pos="100000">
                <a:srgbClr val="000000">
                  <a:alpha val="4000"/>
                </a:srgbClr>
              </a:gs>
            </a:gsLst>
            <a:lin ang="16200000" scaled="0"/>
          </a:gra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0" name="Shape 8"/>
          <p:cNvSpPr/>
          <p:nvPr/>
        </p:nvSpPr>
        <p:spPr>
          <a:xfrm>
            <a:off x="1709672" y="3633788"/>
            <a:ext cx="1196876" cy="209550"/>
          </a:xfrm>
          <a:prstGeom prst="roundRect">
            <a:avLst>
              <a:gd name="adj" fmla="val 18182"/>
            </a:avLst>
          </a:prstGeom>
          <a:solidFill>
            <a:srgbClr val="FFFFFF">
              <a:alpha val="17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1" name="Text 9"/>
          <p:cNvSpPr/>
          <p:nvPr/>
        </p:nvSpPr>
        <p:spPr>
          <a:xfrm>
            <a:off x="1795397" y="3671888"/>
            <a:ext cx="11016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825" b="1" kern="0" spc="75" noProof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À VENIR · 14 JUIL.</a:t>
            </a:r>
            <a:endParaRPr lang="fr-FR" sz="825" noProof="1"/>
          </a:p>
        </p:txBody>
      </p:sp>
      <p:sp>
        <p:nvSpPr>
          <p:cNvPr id="12" name="Text 10"/>
          <p:cNvSpPr/>
          <p:nvPr/>
        </p:nvSpPr>
        <p:spPr>
          <a:xfrm>
            <a:off x="1709672" y="4491038"/>
            <a:ext cx="11172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2400" i="1" noProof="1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Barcelone</a:t>
            </a:r>
            <a:endParaRPr lang="fr-FR" sz="2400" noProof="1"/>
          </a:p>
        </p:txBody>
      </p:sp>
      <p:sp>
        <p:nvSpPr>
          <p:cNvPr id="13" name="Shape 11"/>
          <p:cNvSpPr/>
          <p:nvPr/>
        </p:nvSpPr>
        <p:spPr>
          <a:xfrm>
            <a:off x="1576322" y="4910138"/>
            <a:ext cx="2133600" cy="390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4" name="Shape 12"/>
          <p:cNvSpPr/>
          <p:nvPr/>
        </p:nvSpPr>
        <p:spPr>
          <a:xfrm>
            <a:off x="1576322" y="5291138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5" name="Text 13"/>
          <p:cNvSpPr/>
          <p:nvPr/>
        </p:nvSpPr>
        <p:spPr>
          <a:xfrm>
            <a:off x="1709672" y="4995863"/>
            <a:ext cx="2286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275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fr-FR" sz="1275" noProof="1"/>
          </a:p>
        </p:txBody>
      </p:sp>
      <p:sp>
        <p:nvSpPr>
          <p:cNvPr id="16" name="Text 14"/>
          <p:cNvSpPr/>
          <p:nvPr/>
        </p:nvSpPr>
        <p:spPr>
          <a:xfrm>
            <a:off x="1938272" y="5000625"/>
            <a:ext cx="3521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200" noProof="1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 22</a:t>
            </a:r>
            <a:endParaRPr lang="fr-FR" sz="1200" noProof="1"/>
          </a:p>
        </p:txBody>
      </p:sp>
      <p:sp>
        <p:nvSpPr>
          <p:cNvPr id="17" name="Shape 15"/>
          <p:cNvSpPr/>
          <p:nvPr/>
        </p:nvSpPr>
        <p:spPr>
          <a:xfrm>
            <a:off x="2290399" y="5091113"/>
            <a:ext cx="1286173" cy="19050"/>
          </a:xfrm>
          <a:prstGeom prst="roundRect">
            <a:avLst>
              <a:gd name="adj" fmla="val 50000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8" name="Shape 16"/>
          <p:cNvSpPr/>
          <p:nvPr/>
        </p:nvSpPr>
        <p:spPr>
          <a:xfrm>
            <a:off x="2290399" y="5091113"/>
            <a:ext cx="707380" cy="19050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19" name="Shape 17"/>
          <p:cNvSpPr/>
          <p:nvPr/>
        </p:nvSpPr>
        <p:spPr>
          <a:xfrm>
            <a:off x="1576322" y="5300663"/>
            <a:ext cx="2133600" cy="1533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0" name="Shape 18"/>
          <p:cNvSpPr/>
          <p:nvPr/>
        </p:nvSpPr>
        <p:spPr>
          <a:xfrm>
            <a:off x="1576322" y="58054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1" name="Text 19"/>
          <p:cNvSpPr/>
          <p:nvPr/>
        </p:nvSpPr>
        <p:spPr>
          <a:xfrm>
            <a:off x="1709672" y="5457825"/>
            <a:ext cx="29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275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fr-FR" sz="1275" noProof="1"/>
          </a:p>
        </p:txBody>
      </p:sp>
      <p:sp>
        <p:nvSpPr>
          <p:cNvPr id="22" name="Text 20"/>
          <p:cNvSpPr/>
          <p:nvPr/>
        </p:nvSpPr>
        <p:spPr>
          <a:xfrm>
            <a:off x="2014472" y="5395913"/>
            <a:ext cx="1718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 Paris → Barcelone</a:t>
            </a:r>
            <a:endParaRPr lang="fr-FR" sz="1050" noProof="1"/>
          </a:p>
        </p:txBody>
      </p:sp>
      <p:sp>
        <p:nvSpPr>
          <p:cNvPr id="23" name="Text 21"/>
          <p:cNvSpPr/>
          <p:nvPr/>
        </p:nvSpPr>
        <p:spPr>
          <a:xfrm>
            <a:off x="2014472" y="5576888"/>
            <a:ext cx="1718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825" noProof="1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Calé · 5/8</a:t>
            </a:r>
            <a:endParaRPr lang="fr-FR" sz="825" noProof="1"/>
          </a:p>
        </p:txBody>
      </p:sp>
      <p:sp>
        <p:nvSpPr>
          <p:cNvPr id="24" name="Shape 22"/>
          <p:cNvSpPr/>
          <p:nvPr/>
        </p:nvSpPr>
        <p:spPr>
          <a:xfrm>
            <a:off x="1576322" y="631983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25" name="Text 23"/>
          <p:cNvSpPr/>
          <p:nvPr/>
        </p:nvSpPr>
        <p:spPr>
          <a:xfrm>
            <a:off x="1709672" y="5972175"/>
            <a:ext cx="29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275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fr-FR" sz="1275" noProof="1"/>
          </a:p>
        </p:txBody>
      </p:sp>
      <p:sp>
        <p:nvSpPr>
          <p:cNvPr id="26" name="Text 24"/>
          <p:cNvSpPr/>
          <p:nvPr/>
        </p:nvSpPr>
        <p:spPr>
          <a:xfrm>
            <a:off x="2014472" y="5910263"/>
            <a:ext cx="1718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Hôtel Barceloneta</a:t>
            </a:r>
            <a:endParaRPr lang="fr-FR" sz="1050" noProof="1"/>
          </a:p>
        </p:txBody>
      </p:sp>
      <p:sp>
        <p:nvSpPr>
          <p:cNvPr id="27" name="Text 25"/>
          <p:cNvSpPr/>
          <p:nvPr/>
        </p:nvSpPr>
        <p:spPr>
          <a:xfrm>
            <a:off x="2014472" y="6091238"/>
            <a:ext cx="1718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825" noProof="1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cours · 3/5</a:t>
            </a:r>
            <a:endParaRPr lang="fr-FR" sz="825" noProof="1"/>
          </a:p>
        </p:txBody>
      </p:sp>
      <p:sp>
        <p:nvSpPr>
          <p:cNvPr id="28" name="Text 26"/>
          <p:cNvSpPr/>
          <p:nvPr/>
        </p:nvSpPr>
        <p:spPr>
          <a:xfrm>
            <a:off x="1709672" y="6486525"/>
            <a:ext cx="295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275" noProof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fr-FR" sz="1275" noProof="1"/>
          </a:p>
        </p:txBody>
      </p:sp>
      <p:sp>
        <p:nvSpPr>
          <p:cNvPr id="29" name="Text 27"/>
          <p:cNvSpPr/>
          <p:nvPr/>
        </p:nvSpPr>
        <p:spPr>
          <a:xfrm>
            <a:off x="2014472" y="6424613"/>
            <a:ext cx="1718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Location voiture</a:t>
            </a:r>
            <a:endParaRPr lang="fr-FR" sz="1050" noProof="1"/>
          </a:p>
        </p:txBody>
      </p:sp>
      <p:sp>
        <p:nvSpPr>
          <p:cNvPr id="30" name="Text 28"/>
          <p:cNvSpPr/>
          <p:nvPr/>
        </p:nvSpPr>
        <p:spPr>
          <a:xfrm>
            <a:off x="2014472" y="6605588"/>
            <a:ext cx="1718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825" noProof="1">
                <a:solidFill>
                  <a:srgbClr val="B8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Manquant · 0/5</a:t>
            </a:r>
            <a:endParaRPr lang="fr-FR" sz="825" noProof="1"/>
          </a:p>
        </p:txBody>
      </p:sp>
      <p:sp>
        <p:nvSpPr>
          <p:cNvPr id="31" name="Text 29"/>
          <p:cNvSpPr/>
          <p:nvPr/>
        </p:nvSpPr>
        <p:spPr>
          <a:xfrm>
            <a:off x="1484220" y="7953375"/>
            <a:ext cx="23176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1275" kern="0" spc="150" noProof="1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endParaRPr lang="fr-FR" sz="1275" noProof="1"/>
          </a:p>
        </p:txBody>
      </p:sp>
      <p:sp>
        <p:nvSpPr>
          <p:cNvPr id="32" name="Text 30"/>
          <p:cNvSpPr/>
          <p:nvPr/>
        </p:nvSpPr>
        <p:spPr>
          <a:xfrm>
            <a:off x="1484220" y="8201025"/>
            <a:ext cx="23176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1350" noProof="1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d'ensemble du voyage</a:t>
            </a:r>
            <a:endParaRPr lang="fr-FR" sz="1350" noProof="1"/>
          </a:p>
        </p:txBody>
      </p:sp>
      <p:sp>
        <p:nvSpPr>
          <p:cNvPr id="33" name="Shape 31"/>
          <p:cNvSpPr/>
          <p:nvPr/>
        </p:nvSpPr>
        <p:spPr>
          <a:xfrm>
            <a:off x="4333809" y="3486150"/>
            <a:ext cx="2162175" cy="4276725"/>
          </a:xfrm>
          <a:prstGeom prst="roundRect">
            <a:avLst>
              <a:gd name="adj" fmla="val 18502"/>
            </a:avLst>
          </a:prstGeom>
          <a:solidFill>
            <a:srgbClr val="111111"/>
          </a:solidFill>
          <a:ln w="14288">
            <a:solidFill>
              <a:srgbClr val="C4BBAF">
                <a:alpha val="14000"/>
              </a:srgbClr>
            </a:solidFill>
            <a:prstDash val="solid"/>
          </a:ln>
          <a:effectLst>
            <a:outerShdw blurRad="685800" dist="266700" dir="5400000" algn="bl" rotWithShape="0">
              <a:srgbClr val="000000">
                <a:alpha val="65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34" name="Shape 32"/>
          <p:cNvSpPr/>
          <p:nvPr/>
        </p:nvSpPr>
        <p:spPr>
          <a:xfrm>
            <a:off x="4995797" y="3605213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08060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5" name="Shape 33"/>
          <p:cNvSpPr/>
          <p:nvPr/>
        </p:nvSpPr>
        <p:spPr>
          <a:xfrm>
            <a:off x="4348097" y="3500438"/>
            <a:ext cx="2133600" cy="4248150"/>
          </a:xfrm>
          <a:prstGeom prst="roundRect">
            <a:avLst>
              <a:gd name="adj" fmla="val 183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6" name="Shape 34"/>
          <p:cNvSpPr/>
          <p:nvPr/>
        </p:nvSpPr>
        <p:spPr>
          <a:xfrm>
            <a:off x="4348097" y="3500438"/>
            <a:ext cx="2133600" cy="13906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7" name="Shape 35"/>
          <p:cNvSpPr/>
          <p:nvPr/>
        </p:nvSpPr>
        <p:spPr>
          <a:xfrm>
            <a:off x="4348097" y="4881563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38" name="Text 36"/>
          <p:cNvSpPr/>
          <p:nvPr/>
        </p:nvSpPr>
        <p:spPr>
          <a:xfrm>
            <a:off x="4481447" y="3919537"/>
            <a:ext cx="205359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900" b="1" kern="0" spc="15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</a:t>
            </a:r>
            <a:endParaRPr lang="fr-FR" sz="900" noProof="1"/>
          </a:p>
        </p:txBody>
      </p:sp>
      <p:sp>
        <p:nvSpPr>
          <p:cNvPr id="39" name="Text 37"/>
          <p:cNvSpPr/>
          <p:nvPr/>
        </p:nvSpPr>
        <p:spPr>
          <a:xfrm>
            <a:off x="4481447" y="4110038"/>
            <a:ext cx="20535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350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Paris → Barcelone</a:t>
            </a:r>
            <a:endParaRPr lang="fr-FR" sz="1350" noProof="1"/>
          </a:p>
        </p:txBody>
      </p:sp>
      <p:sp>
        <p:nvSpPr>
          <p:cNvPr id="40" name="Text 38"/>
          <p:cNvSpPr/>
          <p:nvPr/>
        </p:nvSpPr>
        <p:spPr>
          <a:xfrm>
            <a:off x="4481447" y="4414838"/>
            <a:ext cx="2419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100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fr-FR" sz="2100" noProof="1"/>
          </a:p>
        </p:txBody>
      </p:sp>
      <p:sp>
        <p:nvSpPr>
          <p:cNvPr id="41" name="Text 39"/>
          <p:cNvSpPr/>
          <p:nvPr/>
        </p:nvSpPr>
        <p:spPr>
          <a:xfrm>
            <a:off x="4675816" y="4510088"/>
            <a:ext cx="1434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35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</a:t>
            </a:r>
            <a:endParaRPr lang="fr-FR" sz="1350" noProof="1"/>
          </a:p>
        </p:txBody>
      </p:sp>
      <p:sp>
        <p:nvSpPr>
          <p:cNvPr id="42" name="Text 40"/>
          <p:cNvSpPr/>
          <p:nvPr/>
        </p:nvSpPr>
        <p:spPr>
          <a:xfrm>
            <a:off x="4771662" y="4510088"/>
            <a:ext cx="18052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35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fr-FR" sz="1350" noProof="1"/>
          </a:p>
        </p:txBody>
      </p:sp>
      <p:sp>
        <p:nvSpPr>
          <p:cNvPr id="43" name="Text 41"/>
          <p:cNvSpPr/>
          <p:nvPr/>
        </p:nvSpPr>
        <p:spPr>
          <a:xfrm>
            <a:off x="4933140" y="4519613"/>
            <a:ext cx="5954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275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validés</a:t>
            </a:r>
            <a:endParaRPr lang="fr-FR" sz="1275" noProof="1"/>
          </a:p>
        </p:txBody>
      </p:sp>
      <p:sp>
        <p:nvSpPr>
          <p:cNvPr id="44" name="Shape 42"/>
          <p:cNvSpPr/>
          <p:nvPr/>
        </p:nvSpPr>
        <p:spPr>
          <a:xfrm>
            <a:off x="4348097" y="55006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5" name="Shape 43"/>
          <p:cNvSpPr/>
          <p:nvPr/>
        </p:nvSpPr>
        <p:spPr>
          <a:xfrm>
            <a:off x="4481447" y="4995863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6" name="Text 44"/>
          <p:cNvSpPr/>
          <p:nvPr/>
        </p:nvSpPr>
        <p:spPr>
          <a:xfrm>
            <a:off x="4498562" y="5005388"/>
            <a:ext cx="175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900" noProof="1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fr-FR" sz="900" noProof="1"/>
          </a:p>
        </p:txBody>
      </p:sp>
      <p:sp>
        <p:nvSpPr>
          <p:cNvPr id="47" name="Text 45"/>
          <p:cNvSpPr/>
          <p:nvPr/>
        </p:nvSpPr>
        <p:spPr>
          <a:xfrm>
            <a:off x="4710047" y="4986338"/>
            <a:ext cx="17145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fr-FR" sz="1200" strike="sngStrike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Billet confirmé (n° réservation)</a:t>
            </a:r>
            <a:endParaRPr lang="fr-FR" sz="1200" noProof="1"/>
          </a:p>
        </p:txBody>
      </p:sp>
      <p:sp>
        <p:nvSpPr>
          <p:cNvPr id="48" name="Shape 46"/>
          <p:cNvSpPr/>
          <p:nvPr/>
        </p:nvSpPr>
        <p:spPr>
          <a:xfrm>
            <a:off x="4348097" y="5910263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49" name="Shape 47"/>
          <p:cNvSpPr/>
          <p:nvPr/>
        </p:nvSpPr>
        <p:spPr>
          <a:xfrm>
            <a:off x="4481447" y="5614988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50" name="Text 48"/>
          <p:cNvSpPr/>
          <p:nvPr/>
        </p:nvSpPr>
        <p:spPr>
          <a:xfrm>
            <a:off x="4498562" y="5624513"/>
            <a:ext cx="175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900" noProof="1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fr-FR" sz="900" noProof="1"/>
          </a:p>
        </p:txBody>
      </p:sp>
      <p:sp>
        <p:nvSpPr>
          <p:cNvPr id="51" name="Text 49"/>
          <p:cNvSpPr/>
          <p:nvPr/>
        </p:nvSpPr>
        <p:spPr>
          <a:xfrm>
            <a:off x="4710047" y="5605463"/>
            <a:ext cx="16580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fr-FR" sz="1200" strike="sngStrike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Check-in en ligne fait</a:t>
            </a:r>
            <a:endParaRPr lang="fr-FR" sz="1200" noProof="1"/>
          </a:p>
        </p:txBody>
      </p:sp>
      <p:sp>
        <p:nvSpPr>
          <p:cNvPr id="52" name="Shape 50"/>
          <p:cNvSpPr/>
          <p:nvPr/>
        </p:nvSpPr>
        <p:spPr>
          <a:xfrm>
            <a:off x="4348097" y="65293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53" name="Shape 51"/>
          <p:cNvSpPr/>
          <p:nvPr/>
        </p:nvSpPr>
        <p:spPr>
          <a:xfrm>
            <a:off x="4481447" y="6024563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54" name="Text 52"/>
          <p:cNvSpPr/>
          <p:nvPr/>
        </p:nvSpPr>
        <p:spPr>
          <a:xfrm>
            <a:off x="4738622" y="6015038"/>
            <a:ext cx="1685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fr-FR" sz="1200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Visas &amp; autorisations vérifiés</a:t>
            </a:r>
            <a:endParaRPr lang="fr-FR" sz="1200" noProof="1"/>
          </a:p>
        </p:txBody>
      </p:sp>
      <p:sp>
        <p:nvSpPr>
          <p:cNvPr id="55" name="Shape 53"/>
          <p:cNvSpPr/>
          <p:nvPr/>
        </p:nvSpPr>
        <p:spPr>
          <a:xfrm>
            <a:off x="4348097" y="7148513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56" name="Shape 54"/>
          <p:cNvSpPr/>
          <p:nvPr/>
        </p:nvSpPr>
        <p:spPr>
          <a:xfrm>
            <a:off x="4481447" y="6643688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57" name="Text 55"/>
          <p:cNvSpPr/>
          <p:nvPr/>
        </p:nvSpPr>
        <p:spPr>
          <a:xfrm>
            <a:off x="4738622" y="6634163"/>
            <a:ext cx="1685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fr-FR" sz="1200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Autorisation sortie du territoire</a:t>
            </a:r>
            <a:endParaRPr lang="fr-FR" sz="1200" noProof="1"/>
          </a:p>
        </p:txBody>
      </p:sp>
      <p:sp>
        <p:nvSpPr>
          <p:cNvPr id="58" name="Shape 56"/>
          <p:cNvSpPr/>
          <p:nvPr/>
        </p:nvSpPr>
        <p:spPr>
          <a:xfrm>
            <a:off x="4481447" y="7262813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59" name="Text 57"/>
          <p:cNvSpPr/>
          <p:nvPr/>
        </p:nvSpPr>
        <p:spPr>
          <a:xfrm>
            <a:off x="4738622" y="7253288"/>
            <a:ext cx="1685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fr-FR" sz="1200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Heure de présentation aéroport</a:t>
            </a:r>
            <a:endParaRPr lang="fr-FR" sz="1200" noProof="1"/>
          </a:p>
        </p:txBody>
      </p:sp>
      <p:sp>
        <p:nvSpPr>
          <p:cNvPr id="60" name="Text 58"/>
          <p:cNvSpPr/>
          <p:nvPr/>
        </p:nvSpPr>
        <p:spPr>
          <a:xfrm>
            <a:off x="4404971" y="7953375"/>
            <a:ext cx="20197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1275" kern="0" spc="150" noProof="1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CHECKLIST</a:t>
            </a:r>
            <a:endParaRPr lang="fr-FR" sz="1275" noProof="1"/>
          </a:p>
        </p:txBody>
      </p:sp>
      <p:sp>
        <p:nvSpPr>
          <p:cNvPr id="61" name="Text 59"/>
          <p:cNvSpPr/>
          <p:nvPr/>
        </p:nvSpPr>
        <p:spPr>
          <a:xfrm>
            <a:off x="4404971" y="8201025"/>
            <a:ext cx="20197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1350" noProof="1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Auto-générée, éditable</a:t>
            </a:r>
            <a:endParaRPr lang="fr-FR" sz="1350" noProof="1"/>
          </a:p>
        </p:txBody>
      </p:sp>
      <p:sp>
        <p:nvSpPr>
          <p:cNvPr id="62" name="Shape 60"/>
          <p:cNvSpPr/>
          <p:nvPr/>
        </p:nvSpPr>
        <p:spPr>
          <a:xfrm>
            <a:off x="7271677" y="3486150"/>
            <a:ext cx="2162175" cy="4276725"/>
          </a:xfrm>
          <a:prstGeom prst="roundRect">
            <a:avLst>
              <a:gd name="adj" fmla="val 18502"/>
            </a:avLst>
          </a:prstGeom>
          <a:solidFill>
            <a:srgbClr val="111111"/>
          </a:solidFill>
          <a:ln w="14288">
            <a:solidFill>
              <a:srgbClr val="C4BBAF">
                <a:alpha val="14000"/>
              </a:srgbClr>
            </a:solidFill>
            <a:prstDash val="solid"/>
          </a:ln>
          <a:effectLst>
            <a:outerShdw blurRad="685800" dist="266700" dir="5400000" algn="bl" rotWithShape="0">
              <a:srgbClr val="000000">
                <a:alpha val="65000"/>
              </a:srgbClr>
            </a:outerShdw>
          </a:effectLst>
        </p:spPr>
        <p:txBody>
          <a:bodyPr/>
          <a:lstStyle/>
          <a:p>
            <a:endParaRPr lang="fr-FR" noProof="1"/>
          </a:p>
        </p:txBody>
      </p:sp>
      <p:sp>
        <p:nvSpPr>
          <p:cNvPr id="63" name="Shape 61"/>
          <p:cNvSpPr/>
          <p:nvPr/>
        </p:nvSpPr>
        <p:spPr>
          <a:xfrm>
            <a:off x="7933664" y="3605213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08060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64" name="Shape 62"/>
          <p:cNvSpPr/>
          <p:nvPr/>
        </p:nvSpPr>
        <p:spPr>
          <a:xfrm>
            <a:off x="7285964" y="3500438"/>
            <a:ext cx="2133600" cy="4248150"/>
          </a:xfrm>
          <a:prstGeom prst="roundRect">
            <a:avLst>
              <a:gd name="adj" fmla="val 18304"/>
            </a:avLst>
          </a:prstGeom>
          <a:solidFill>
            <a:srgbClr val="F0EBE1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65" name="Shape 63"/>
          <p:cNvSpPr/>
          <p:nvPr/>
        </p:nvSpPr>
        <p:spPr>
          <a:xfrm>
            <a:off x="7285964" y="3500438"/>
            <a:ext cx="2133600" cy="1352550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66" name="Text 64"/>
          <p:cNvSpPr/>
          <p:nvPr/>
        </p:nvSpPr>
        <p:spPr>
          <a:xfrm>
            <a:off x="7419314" y="3919537"/>
            <a:ext cx="20535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825" b="1" kern="0" spc="150" noProof="1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PARTAGÉ PAR MARIE</a:t>
            </a:r>
            <a:endParaRPr lang="fr-FR" sz="825" noProof="1"/>
          </a:p>
        </p:txBody>
      </p:sp>
      <p:sp>
        <p:nvSpPr>
          <p:cNvPr id="67" name="Text 65"/>
          <p:cNvSpPr/>
          <p:nvPr/>
        </p:nvSpPr>
        <p:spPr>
          <a:xfrm>
            <a:off x="7419314" y="4110038"/>
            <a:ext cx="20535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2850" i="1" noProof="1">
                <a:solidFill>
                  <a:srgbClr val="F5F0E8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Barcelone</a:t>
            </a:r>
            <a:endParaRPr lang="fr-FR" sz="2850" noProof="1"/>
          </a:p>
        </p:txBody>
      </p:sp>
      <p:sp>
        <p:nvSpPr>
          <p:cNvPr id="68" name="Text 66"/>
          <p:cNvSpPr/>
          <p:nvPr/>
        </p:nvSpPr>
        <p:spPr>
          <a:xfrm>
            <a:off x="7419314" y="4510088"/>
            <a:ext cx="20535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noProof="1">
                <a:solidFill>
                  <a:srgbClr val="F5F0E8">
                    <a:alpha val="3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→ 21 juillet 2026</a:t>
            </a:r>
            <a:endParaRPr lang="fr-FR" sz="1050" noProof="1"/>
          </a:p>
        </p:txBody>
      </p:sp>
      <p:sp>
        <p:nvSpPr>
          <p:cNvPr id="69" name="Shape 67"/>
          <p:cNvSpPr/>
          <p:nvPr/>
        </p:nvSpPr>
        <p:spPr>
          <a:xfrm>
            <a:off x="7285964" y="4852988"/>
            <a:ext cx="21336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0" name="Shape 68"/>
          <p:cNvSpPr/>
          <p:nvPr/>
        </p:nvSpPr>
        <p:spPr>
          <a:xfrm>
            <a:off x="7285964" y="5529263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1" name="Text 69"/>
          <p:cNvSpPr/>
          <p:nvPr/>
        </p:nvSpPr>
        <p:spPr>
          <a:xfrm>
            <a:off x="7419314" y="4967288"/>
            <a:ext cx="3812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2250" b="1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fr-FR" sz="2250" noProof="1"/>
          </a:p>
        </p:txBody>
      </p:sp>
      <p:sp>
        <p:nvSpPr>
          <p:cNvPr id="72" name="Text 70"/>
          <p:cNvSpPr/>
          <p:nvPr/>
        </p:nvSpPr>
        <p:spPr>
          <a:xfrm>
            <a:off x="7752987" y="5024438"/>
            <a:ext cx="5508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 22</a:t>
            </a:r>
            <a:endParaRPr lang="fr-FR" sz="1800" noProof="1"/>
          </a:p>
        </p:txBody>
      </p:sp>
      <p:sp>
        <p:nvSpPr>
          <p:cNvPr id="73" name="Shape 71"/>
          <p:cNvSpPr/>
          <p:nvPr/>
        </p:nvSpPr>
        <p:spPr>
          <a:xfrm>
            <a:off x="7419314" y="5395913"/>
            <a:ext cx="1866900" cy="19050"/>
          </a:xfrm>
          <a:prstGeom prst="roundRect">
            <a:avLst>
              <a:gd name="adj" fmla="val 50000"/>
            </a:avLst>
          </a:prstGeom>
          <a:solidFill>
            <a:srgbClr val="000000">
              <a:alpha val="7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4" name="Shape 72"/>
          <p:cNvSpPr/>
          <p:nvPr/>
        </p:nvSpPr>
        <p:spPr>
          <a:xfrm>
            <a:off x="7419314" y="5395913"/>
            <a:ext cx="839986" cy="19050"/>
          </a:xfrm>
          <a:prstGeom prst="rect">
            <a:avLst/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5" name="Shape 73"/>
          <p:cNvSpPr/>
          <p:nvPr/>
        </p:nvSpPr>
        <p:spPr>
          <a:xfrm>
            <a:off x="7285964" y="5538788"/>
            <a:ext cx="2133600" cy="1314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6" name="Shape 74"/>
          <p:cNvSpPr/>
          <p:nvPr/>
        </p:nvSpPr>
        <p:spPr>
          <a:xfrm>
            <a:off x="7285964" y="5538788"/>
            <a:ext cx="2133600" cy="266700"/>
          </a:xfrm>
          <a:prstGeom prst="rect">
            <a:avLst/>
          </a:prstGeom>
          <a:solidFill>
            <a:srgbClr val="000000">
              <a:alpha val="2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7" name="Text 75"/>
          <p:cNvSpPr/>
          <p:nvPr/>
        </p:nvSpPr>
        <p:spPr>
          <a:xfrm>
            <a:off x="7419314" y="5605463"/>
            <a:ext cx="20535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825" b="1" kern="0" spc="113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</a:t>
            </a:r>
            <a:endParaRPr lang="fr-FR" sz="825" noProof="1"/>
          </a:p>
        </p:txBody>
      </p:sp>
      <p:sp>
        <p:nvSpPr>
          <p:cNvPr id="78" name="Shape 76"/>
          <p:cNvSpPr/>
          <p:nvPr/>
        </p:nvSpPr>
        <p:spPr>
          <a:xfrm>
            <a:off x="7285964" y="6148388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79" name="Shape 77"/>
          <p:cNvSpPr/>
          <p:nvPr/>
        </p:nvSpPr>
        <p:spPr>
          <a:xfrm>
            <a:off x="7419314" y="5910263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C1714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0" name="Text 78"/>
          <p:cNvSpPr/>
          <p:nvPr/>
        </p:nvSpPr>
        <p:spPr>
          <a:xfrm>
            <a:off x="7436429" y="5919788"/>
            <a:ext cx="1753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fr-FR" sz="900" noProof="1">
                <a:solidFill>
                  <a:srgbClr val="F5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fr-FR" sz="900" noProof="1"/>
          </a:p>
        </p:txBody>
      </p:sp>
      <p:sp>
        <p:nvSpPr>
          <p:cNvPr id="81" name="Text 79"/>
          <p:cNvSpPr/>
          <p:nvPr/>
        </p:nvSpPr>
        <p:spPr>
          <a:xfrm>
            <a:off x="7647914" y="5891213"/>
            <a:ext cx="10941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strike="sngStrike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Billets confirmés</a:t>
            </a:r>
            <a:endParaRPr lang="fr-FR" sz="1050" noProof="1"/>
          </a:p>
        </p:txBody>
      </p:sp>
      <p:sp>
        <p:nvSpPr>
          <p:cNvPr id="82" name="Shape 80"/>
          <p:cNvSpPr/>
          <p:nvPr/>
        </p:nvSpPr>
        <p:spPr>
          <a:xfrm>
            <a:off x="7285964" y="6500813"/>
            <a:ext cx="2133600" cy="9525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3" name="Shape 81"/>
          <p:cNvSpPr/>
          <p:nvPr/>
        </p:nvSpPr>
        <p:spPr>
          <a:xfrm>
            <a:off x="7419314" y="6248400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84" name="Text 82"/>
          <p:cNvSpPr/>
          <p:nvPr/>
        </p:nvSpPr>
        <p:spPr>
          <a:xfrm>
            <a:off x="7676489" y="6243638"/>
            <a:ext cx="11601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Check-in en ligne</a:t>
            </a:r>
            <a:endParaRPr lang="fr-FR" sz="1050" noProof="1"/>
          </a:p>
        </p:txBody>
      </p:sp>
      <p:sp>
        <p:nvSpPr>
          <p:cNvPr id="85" name="Shape 83"/>
          <p:cNvSpPr/>
          <p:nvPr/>
        </p:nvSpPr>
        <p:spPr>
          <a:xfrm>
            <a:off x="7419314" y="6600825"/>
            <a:ext cx="161925" cy="161925"/>
          </a:xfrm>
          <a:prstGeom prst="roundRect">
            <a:avLst>
              <a:gd name="adj" fmla="val 17647"/>
            </a:avLst>
          </a:prstGeom>
          <a:ln w="14288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 noProof="1"/>
          </a:p>
        </p:txBody>
      </p:sp>
      <p:sp>
        <p:nvSpPr>
          <p:cNvPr id="86" name="Text 84"/>
          <p:cNvSpPr/>
          <p:nvPr/>
        </p:nvSpPr>
        <p:spPr>
          <a:xfrm>
            <a:off x="7676489" y="6596063"/>
            <a:ext cx="14354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1050" noProof="1">
                <a:solidFill>
                  <a:srgbClr val="1C17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Heure aéroport calée</a:t>
            </a:r>
            <a:endParaRPr lang="fr-FR" sz="1050" noProof="1"/>
          </a:p>
        </p:txBody>
      </p:sp>
      <p:sp>
        <p:nvSpPr>
          <p:cNvPr id="87" name="Shape 85"/>
          <p:cNvSpPr/>
          <p:nvPr/>
        </p:nvSpPr>
        <p:spPr>
          <a:xfrm>
            <a:off x="7285964" y="7319963"/>
            <a:ext cx="2133600" cy="428625"/>
          </a:xfrm>
          <a:prstGeom prst="rect">
            <a:avLst/>
          </a:prstGeom>
          <a:solidFill>
            <a:srgbClr val="F0EBE1"/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8" name="Shape 86"/>
          <p:cNvSpPr/>
          <p:nvPr/>
        </p:nvSpPr>
        <p:spPr>
          <a:xfrm>
            <a:off x="7285964" y="7319963"/>
            <a:ext cx="21336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89" name="Text 87"/>
          <p:cNvSpPr/>
          <p:nvPr/>
        </p:nvSpPr>
        <p:spPr>
          <a:xfrm>
            <a:off x="7381214" y="7405688"/>
            <a:ext cx="19431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825" kern="0" spc="38" noProof="1">
                <a:solidFill>
                  <a:srgbClr val="C4BB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 · synchronisé en temps réel avec Marie</a:t>
            </a:r>
            <a:endParaRPr lang="fr-FR" sz="825" noProof="1"/>
          </a:p>
        </p:txBody>
      </p:sp>
      <p:sp>
        <p:nvSpPr>
          <p:cNvPr id="90" name="Text 88"/>
          <p:cNvSpPr/>
          <p:nvPr/>
        </p:nvSpPr>
        <p:spPr>
          <a:xfrm>
            <a:off x="6980866" y="7953375"/>
            <a:ext cx="27437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1275" kern="0" spc="150" noProof="1">
                <a:solidFill>
                  <a:srgbClr val="F5F0E8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PARTENAIRE</a:t>
            </a:r>
            <a:endParaRPr lang="fr-FR" sz="1275" noProof="1"/>
          </a:p>
        </p:txBody>
      </p:sp>
      <p:sp>
        <p:nvSpPr>
          <p:cNvPr id="91" name="Text 89"/>
          <p:cNvSpPr/>
          <p:nvPr/>
        </p:nvSpPr>
        <p:spPr>
          <a:xfrm>
            <a:off x="6980866" y="8201025"/>
            <a:ext cx="27437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fr-FR" sz="1350" noProof="1">
                <a:solidFill>
                  <a:srgbClr val="F5F0E8">
                    <a:alpha val="22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Lien web · sans téléchargement</a:t>
            </a:r>
            <a:endParaRPr lang="fr-FR" sz="1350" noProof="1"/>
          </a:p>
        </p:txBody>
      </p:sp>
      <p:sp>
        <p:nvSpPr>
          <p:cNvPr id="92" name="Shape 90"/>
          <p:cNvSpPr/>
          <p:nvPr/>
        </p:nvSpPr>
        <p:spPr>
          <a:xfrm>
            <a:off x="1143000" y="9315450"/>
            <a:ext cx="16002000" cy="9525"/>
          </a:xfrm>
          <a:prstGeom prst="rect">
            <a:avLst/>
          </a:prstGeom>
          <a:solidFill>
            <a:srgbClr val="C4BBAF">
              <a:alpha val="10000"/>
            </a:srgbClr>
          </a:solidFill>
          <a:ln/>
        </p:spPr>
        <p:txBody>
          <a:bodyPr/>
          <a:lstStyle/>
          <a:p>
            <a:endParaRPr lang="fr-FR" noProof="1"/>
          </a:p>
        </p:txBody>
      </p:sp>
      <p:sp>
        <p:nvSpPr>
          <p:cNvPr id="93" name="Text 91"/>
          <p:cNvSpPr/>
          <p:nvPr/>
        </p:nvSpPr>
        <p:spPr>
          <a:xfrm>
            <a:off x="1143000" y="9515475"/>
            <a:ext cx="7364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200" kern="0" spc="188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ALLSET</a:t>
            </a:r>
            <a:endParaRPr lang="fr-FR" sz="1200" noProof="1"/>
          </a:p>
        </p:txBody>
      </p:sp>
      <p:sp>
        <p:nvSpPr>
          <p:cNvPr id="94" name="Text 92"/>
          <p:cNvSpPr/>
          <p:nvPr/>
        </p:nvSpPr>
        <p:spPr>
          <a:xfrm>
            <a:off x="16741676" y="9515475"/>
            <a:ext cx="4795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200" noProof="1">
                <a:solidFill>
                  <a:srgbClr val="F5F0E8">
                    <a:alpha val="13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· 11</a:t>
            </a:r>
            <a:endParaRPr lang="fr-FR" sz="1200" noProof="1"/>
          </a:p>
        </p:txBody>
      </p:sp>
      <p:sp>
        <p:nvSpPr>
          <p:cNvPr id="95" name="Text 3">
            <a:extLst>
              <a:ext uri="{FF2B5EF4-FFF2-40B4-BE49-F238E27FC236}">
                <a16:creationId xmlns:a16="http://schemas.microsoft.com/office/drawing/2014/main" id="{8635F18D-138A-DEF0-71D0-6AE946EE6FE3}"/>
              </a:ext>
            </a:extLst>
          </p:cNvPr>
          <p:cNvSpPr/>
          <p:nvPr/>
        </p:nvSpPr>
        <p:spPr>
          <a:xfrm>
            <a:off x="15801475" y="800100"/>
            <a:ext cx="1844842" cy="666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fr-FR" sz="1800" kern="0" spc="300" noProof="1">
                <a:solidFill>
                  <a:srgbClr val="F5F0E8">
                    <a:alpha val="18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</a:t>
            </a:r>
            <a:endParaRPr lang="fr-FR" sz="1800" noProof="1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76A1C376-13FB-84FA-6CF9-63D52B8952EE}"/>
              </a:ext>
            </a:extLst>
          </p:cNvPr>
          <p:cNvSpPr/>
          <p:nvPr/>
        </p:nvSpPr>
        <p:spPr>
          <a:xfrm>
            <a:off x="10953592" y="2442588"/>
            <a:ext cx="10221628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75000"/>
              </a:lnSpc>
            </a:pPr>
            <a:r>
              <a:rPr lang="fr-FR" sz="2200" b="1" noProof="1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Maquette cliquable / </a:t>
            </a:r>
            <a:r>
              <a:rPr lang="fr-FR" sz="2200" b="1" noProof="1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/>
              </a:rPr>
              <a:t>Linkedin</a:t>
            </a:r>
            <a:endParaRPr lang="fr-FR" sz="2200" b="1" noProof="1">
              <a:solidFill>
                <a:schemeClr val="bg1"/>
              </a:solidFill>
            </a:endParaRPr>
          </a:p>
        </p:txBody>
      </p:sp>
      <p:sp>
        <p:nvSpPr>
          <p:cNvPr id="96" name="Text 1">
            <a:extLst>
              <a:ext uri="{FF2B5EF4-FFF2-40B4-BE49-F238E27FC236}">
                <a16:creationId xmlns:a16="http://schemas.microsoft.com/office/drawing/2014/main" id="{17926A25-91F2-82E0-144A-5FFAD4CBC6BB}"/>
              </a:ext>
            </a:extLst>
          </p:cNvPr>
          <p:cNvSpPr/>
          <p:nvPr/>
        </p:nvSpPr>
        <p:spPr>
          <a:xfrm>
            <a:off x="1143000" y="762000"/>
            <a:ext cx="1600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fr-FR" sz="2400" i="1" noProof="1">
                <a:solidFill>
                  <a:schemeClr val="bg1">
                    <a:lumMod val="85000"/>
                  </a:scheme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allset</a:t>
            </a:r>
            <a:endParaRPr lang="fr-FR" sz="2400" noProof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1429</Words>
  <Application>Microsoft Office PowerPoint</Application>
  <PresentationFormat>Personnalisé</PresentationFormat>
  <Paragraphs>283</Paragraphs>
  <Slides>12</Slides>
  <Notes>12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Ando RAKOTOARIMANANA</cp:lastModifiedBy>
  <cp:revision>16</cp:revision>
  <dcterms:created xsi:type="dcterms:W3CDTF">2026-06-22T09:46:36Z</dcterms:created>
  <dcterms:modified xsi:type="dcterms:W3CDTF">2026-06-26T09:00:46Z</dcterms:modified>
</cp:coreProperties>
</file>