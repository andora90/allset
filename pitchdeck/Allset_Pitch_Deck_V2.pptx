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5" r:id="rId6"/>
    <p:sldId id="259" r:id="rId7"/>
    <p:sldId id="264" r:id="rId8"/>
    <p:sldId id="260" r:id="rId9"/>
    <p:sldId id="262" r:id="rId10"/>
    <p:sldId id="263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50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Allset repense l'organisation du voyage famille — du problème concret à la solution évidente. Pitch investisseurs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à 4 voyages par an. Notes iPhone + Google Sheets + emails perdus. Zéro structure, tout repart de zéro. Et c'est toujours Marie qui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Marie, 35-45 ans, CSP+, cadre active, 2 enfants. Chief Travel Officer du foyer par défaut — rôle non choisi, non partagé. Irritants : repartir de zéro, tout dans la tête, ne peut pas déléguer.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gestes : créer le voyage, laisser Allset générer les checklists automatiquement, partager en un lien. Valeur dès la première étape — sans template, sans configuration préalable.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MVP : valider que Marie utilise Allset à la place de ses Notes iPhone. V2 : rétention avec templates réutilisables et délégation. V3 : automatisation poussée, import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irritants structurels. 1/ Repartir de zéro — l'ossature n'est jamais mémorisée. 2/ Tout dans la tête — le partenaire n'a aucune visibilité. 3/ Impossible à déléguer — partager crée plus de friction qu'il n'en résout.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3,5 millions de familles CSP+ en France. Plus de 10 millions de voyages famille par an. Et zéro outil dédié sur ce segment — Allset se positionne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Allset : un moule de voyage réutilisable. Il génère automatiquement les checklists par type d'étape. Un seul écran pour l'état de l'organisation. Un lien pour partager sans téléchargement.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moment aha : Marie ajoute 'Vol Paris → Barcelone'. Allset génère instantanément 8 items — dont 2 qu'elle aurait oubliés. Valeur perçue dès la première étape, sans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écrans : le dashboard voyage avec statut de chaque étape, la checklist détaillée auto-générée, et la vue partenaire accessible par lien — sans téléchargement.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82450" y="847725"/>
            <a:ext cx="8591550" cy="8591550"/>
          </a:xfrm>
          <a:prstGeom prst="ellipse">
            <a:avLst/>
          </a:prstGeom>
          <a:ln w="9525">
            <a:solidFill>
              <a:srgbClr val="C4BBA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3506450" y="2085975"/>
            <a:ext cx="6115050" cy="6115050"/>
          </a:xfrm>
          <a:prstGeom prst="ellipse">
            <a:avLst/>
          </a:prstGeom>
          <a:ln w="9525">
            <a:solidFill>
              <a:srgbClr val="8D5B4C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4326046" y="809625"/>
            <a:ext cx="3100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CONFIDENTIEL ·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821781"/>
            <a:ext cx="1047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75" dirty="0">
                <a:solidFill>
                  <a:srgbClr val="C4BBAF">
                    <a:alpha val="5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PRESENTATION PROJET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498056"/>
            <a:ext cx="9810750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0" i="1" kern="0" spc="-75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 voyage famille, réinventé.</a:t>
            </a:r>
            <a:endParaRPr lang="en-US" sz="8400" dirty="0"/>
          </a:p>
        </p:txBody>
      </p:sp>
      <p:sp>
        <p:nvSpPr>
          <p:cNvPr id="8" name="Shape 6"/>
          <p:cNvSpPr/>
          <p:nvPr/>
        </p:nvSpPr>
        <p:spPr>
          <a:xfrm>
            <a:off x="1143000" y="6050756"/>
            <a:ext cx="4953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43000" y="6484144"/>
            <a:ext cx="9268326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2400" dirty="0">
                <a:solidFill>
                  <a:srgbClr val="F5F0E8">
                    <a:alpha val="4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mobile d'organisation voyage pour les familles actives.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607730" y="9420225"/>
            <a:ext cx="613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11</a:t>
            </a:r>
            <a:endParaRPr lang="en-US" sz="18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CECF5480-0B90-B074-EBD5-27253DBCF3B0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432D4686-CD34-A8FC-4A03-A0D1F52F3D6F}"/>
              </a:ext>
            </a:extLst>
          </p:cNvPr>
          <p:cNvSpPr/>
          <p:nvPr/>
        </p:nvSpPr>
        <p:spPr>
          <a:xfrm>
            <a:off x="1143000" y="7870031"/>
            <a:ext cx="990981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 Ando Rakotoarimanana – </a:t>
            </a:r>
            <a:r>
              <a:rPr lang="en-US" sz="2000" b="1" dirty="0" err="1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ando.rakotoarimanana@gmail.com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AB81F90C-6DC3-FFF5-09A6-52F005F7CDB1}"/>
              </a:ext>
            </a:extLst>
          </p:cNvPr>
          <p:cNvSpPr/>
          <p:nvPr/>
        </p:nvSpPr>
        <p:spPr>
          <a:xfrm>
            <a:off x="1120140" y="744855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243423" y="800100"/>
            <a:ext cx="20917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PROBLÈME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483644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75" dirty="0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— LE CONSTAT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159919"/>
            <a:ext cx="10203180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300" i="1" kern="0" spc="-37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"Elle recommence à zéro. À chaque voyage."</a:t>
            </a:r>
            <a:endParaRPr lang="en-US" sz="6300" dirty="0"/>
          </a:p>
        </p:txBody>
      </p:sp>
      <p:sp>
        <p:nvSpPr>
          <p:cNvPr id="7" name="Shape 5"/>
          <p:cNvSpPr/>
          <p:nvPr/>
        </p:nvSpPr>
        <p:spPr>
          <a:xfrm>
            <a:off x="1143000" y="5331619"/>
            <a:ext cx="3810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143000" y="5765006"/>
            <a:ext cx="7063740" cy="275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2400" dirty="0">
                <a:solidFill>
                  <a:srgbClr val="F5F0E8">
                    <a:alpha val="4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Marie porte seule l'organisation complète de chaque voyage — dans sa tête, sur des Notes iPhone, un Google Sheet recrée à chaque séjour. Trois outils, zéro structure, aucune possibilité de déléguer.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549687" y="9420225"/>
            <a:ext cx="671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11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775" y="0"/>
            <a:ext cx="4334247" cy="537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0" b="1" i="1" dirty="0">
                <a:solidFill>
                  <a:srgbClr val="1C1714">
                    <a:alpha val="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2999" y="762000"/>
            <a:ext cx="149141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420529" y="800100"/>
            <a:ext cx="1896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UX RESEARCH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486025"/>
            <a:ext cx="87534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75" dirty="0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ENTRETIENS · INTUITIONS VALIDÉES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971800"/>
            <a:ext cx="875346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300" i="1" kern="0" spc="-75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Profils recrutés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143000" y="3952875"/>
            <a:ext cx="8196422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225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</a:t>
            </a:r>
            <a:r>
              <a:rPr lang="en-US" sz="2250" dirty="0" err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mamans</a:t>
            </a:r>
            <a:r>
              <a:rPr lang="en-US" sz="225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cadres actives, 35–45 ans, 2 enfants.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225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</a:t>
            </a:r>
            <a:r>
              <a:rPr lang="en-US" sz="2250" dirty="0" err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groupe</a:t>
            </a:r>
            <a:r>
              <a:rPr lang="en-US" sz="225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2250" dirty="0" err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voyageuses</a:t>
            </a:r>
            <a:r>
              <a:rPr lang="en-US" sz="225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experts, cadres actives, 35 – 40 </a:t>
            </a:r>
            <a:r>
              <a:rPr lang="en-US" sz="2250" dirty="0" err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</a:t>
            </a:r>
            <a:r>
              <a:rPr lang="en-US" sz="225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2250" dirty="0" err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célibataires</a:t>
            </a:r>
            <a:r>
              <a:rPr lang="en-US" sz="225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sans enfants.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en-US" sz="225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50" dirty="0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Méthode : </a:t>
            </a:r>
            <a:r>
              <a:rPr lang="en-US" sz="2250" dirty="0" err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entretiens</a:t>
            </a:r>
            <a:r>
              <a:rPr lang="en-US" sz="2250" dirty="0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semi-</a:t>
            </a:r>
            <a:r>
              <a:rPr lang="en-US" sz="2250" dirty="0" err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directifs</a:t>
            </a:r>
            <a:r>
              <a:rPr lang="en-US" sz="2250" dirty="0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recrutement réseau.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6350166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343025" y="6235866"/>
            <a:ext cx="72956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43025" y="6578766"/>
            <a:ext cx="729561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"Je recommence à zéro à chaque voyage — rien ne reste d'un séjour à l'autre."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43000" y="7331241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343025" y="7216941"/>
            <a:ext cx="6269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DÉLÉGATION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43025" y="7559841"/>
            <a:ext cx="62699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"Mon partenaire ne voit pas où j'en suis. Partager un Sheet crée plus de questions."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43000" y="8312316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343025" y="8198016"/>
            <a:ext cx="72419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CHARGE MENTALE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43025" y="8556958"/>
            <a:ext cx="724191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"Je pars épuisée avant de décoller. L'organisation me coûte plus que le voyage."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862691" y="1666875"/>
            <a:ext cx="9525" cy="71723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0634216" y="4267200"/>
            <a:ext cx="6510784" cy="9525"/>
          </a:xfrm>
          <a:prstGeom prst="rect">
            <a:avLst/>
          </a:prstGeom>
          <a:solidFill>
            <a:srgbClr val="5C4742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0634216" y="2619375"/>
            <a:ext cx="71618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3/3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10634216" y="3609975"/>
            <a:ext cx="71618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confirment : aucun outil ne survit d'un voyage à l'autre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634216" y="6229350"/>
            <a:ext cx="6510784" cy="9525"/>
          </a:xfrm>
          <a:prstGeom prst="rect">
            <a:avLst/>
          </a:prstGeom>
          <a:solidFill>
            <a:srgbClr val="5C4742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0634216" y="4581525"/>
            <a:ext cx="71618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3/3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10634216" y="5572125"/>
            <a:ext cx="71618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disent que le partenaire "ne sait jamais où on en est"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634216" y="6543675"/>
            <a:ext cx="71618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3/3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10634216" y="7534275"/>
            <a:ext cx="71618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disent épuisées par l'organisation avant le départ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543883" y="9420225"/>
            <a:ext cx="6773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09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9" y="762000"/>
            <a:ext cx="11991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964096" y="800100"/>
            <a:ext cx="3498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 ÇA MARCHE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kern="0" spc="-37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Simple. Immédiat. Réutilisable.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2533650"/>
            <a:ext cx="514350" cy="514350"/>
          </a:xfrm>
          <a:prstGeom prst="ellipse">
            <a:avLst/>
          </a:prstGeom>
          <a:ln w="9525">
            <a:solidFill>
              <a:srgbClr val="5C47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46299" y="2628900"/>
            <a:ext cx="1838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8D5B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809750" y="2786063"/>
            <a:ext cx="346070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143000" y="331470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76237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Vous créez votre voyage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143000" y="5038725"/>
            <a:ext cx="4251274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Titre, dates, destination, participants. Allset est prêt en moins d'une minute.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880050" y="5010150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dirty="0">
                <a:solidFill>
                  <a:srgbClr val="5C4742">
                    <a:alpha val="1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4650" dirty="0"/>
          </a:p>
        </p:txBody>
      </p:sp>
      <p:sp>
        <p:nvSpPr>
          <p:cNvPr id="12" name="Shape 10"/>
          <p:cNvSpPr/>
          <p:nvPr/>
        </p:nvSpPr>
        <p:spPr>
          <a:xfrm>
            <a:off x="7080200" y="2533650"/>
            <a:ext cx="495300" cy="495300"/>
          </a:xfrm>
          <a:prstGeom prst="ellipse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262664" y="2619375"/>
            <a:ext cx="2064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7727900" y="2776538"/>
            <a:ext cx="347975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080200" y="329565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80200" y="374332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 génère vos checklists</a:t>
            </a:r>
            <a:endParaRPr lang="en-US" sz="3750" dirty="0"/>
          </a:p>
        </p:txBody>
      </p:sp>
      <p:sp>
        <p:nvSpPr>
          <p:cNvPr id="17" name="Text 15"/>
          <p:cNvSpPr/>
          <p:nvPr/>
        </p:nvSpPr>
        <p:spPr>
          <a:xfrm>
            <a:off x="7080200" y="5019675"/>
            <a:ext cx="4251274" cy="227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Automatiquement par type d'étape — vol, hôtel, location voiture, logement. Chaque étape a sa checklist pré-remplie et éditable.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817251" y="5010150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dirty="0">
                <a:solidFill>
                  <a:srgbClr val="5C4742">
                    <a:alpha val="1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4650" dirty="0"/>
          </a:p>
        </p:txBody>
      </p:sp>
      <p:sp>
        <p:nvSpPr>
          <p:cNvPr id="19" name="Shape 17"/>
          <p:cNvSpPr/>
          <p:nvPr/>
        </p:nvSpPr>
        <p:spPr>
          <a:xfrm>
            <a:off x="13017401" y="2533650"/>
            <a:ext cx="514350" cy="514350"/>
          </a:xfrm>
          <a:prstGeom prst="ellipse">
            <a:avLst/>
          </a:prstGeom>
          <a:ln w="9525">
            <a:solidFill>
              <a:srgbClr val="5C47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211026" y="2628900"/>
            <a:ext cx="203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8D5B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3684151" y="2786063"/>
            <a:ext cx="346070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3017401" y="331470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017401" y="376237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Vous partagez en un lien</a:t>
            </a:r>
            <a:endParaRPr lang="en-US" sz="3750" dirty="0"/>
          </a:p>
        </p:txBody>
      </p:sp>
      <p:sp>
        <p:nvSpPr>
          <p:cNvPr id="24" name="Text 22"/>
          <p:cNvSpPr/>
          <p:nvPr/>
        </p:nvSpPr>
        <p:spPr>
          <a:xfrm>
            <a:off x="13017401" y="5038725"/>
            <a:ext cx="4251274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Votre partenaire voit et coche sans télécharger d'app. Synchronisation en temps réel.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535549" y="9420225"/>
            <a:ext cx="6856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09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9950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561344" y="800100"/>
            <a:ext cx="28420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FEUILLE DE ROUTE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kern="0" spc="-37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Trois étapes vers la rétention long terme.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2381250"/>
            <a:ext cx="5334000" cy="28575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77000" y="2381250"/>
            <a:ext cx="5334000" cy="28575"/>
          </a:xfrm>
          <a:prstGeom prst="rect">
            <a:avLst/>
          </a:prstGeom>
          <a:solidFill>
            <a:srgbClr val="1C1714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1811000" y="2381250"/>
            <a:ext cx="5334000" cy="28575"/>
          </a:xfrm>
          <a:prstGeom prst="rect">
            <a:avLst/>
          </a:prstGeom>
          <a:solidFill>
            <a:srgbClr val="1C1714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143000" y="2790825"/>
            <a:ext cx="1472952" cy="390525"/>
          </a:xfrm>
          <a:prstGeom prst="roundRect">
            <a:avLst>
              <a:gd name="adj" fmla="val 4878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276350" y="2838450"/>
            <a:ext cx="12824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V1 — MVP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30252" y="2847975"/>
            <a:ext cx="12672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75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Maintenant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337185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Validation du comportement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143000" y="4400550"/>
            <a:ext cx="454559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i="1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"Marie crée un voyage et partage le lien sans ouvrir ses Notes iPhone."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545782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0834" y="5410200"/>
            <a:ext cx="31944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Création voyage + étapes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592455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30834" y="5876925"/>
            <a:ext cx="308955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Checklists auto par type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63912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0834" y="6343650"/>
            <a:ext cx="30260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statut global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43000" y="68580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30834" y="6810375"/>
            <a:ext cx="33287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 partenaire par lien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6242000" y="2790825"/>
            <a:ext cx="9525" cy="6124575"/>
          </a:xfrm>
          <a:prstGeom prst="rect">
            <a:avLst/>
          </a:prstGeom>
          <a:solidFill>
            <a:srgbClr val="5C4742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937325" y="2790825"/>
            <a:ext cx="611237" cy="409575"/>
          </a:xfrm>
          <a:prstGeom prst="roundRect">
            <a:avLst>
              <a:gd name="adj" fmla="val 4651"/>
            </a:avLst>
          </a:prstGeom>
          <a:ln w="9525">
            <a:solidFill>
              <a:srgbClr val="1C171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080200" y="2847975"/>
            <a:ext cx="4016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62863" y="2857500"/>
            <a:ext cx="7871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75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mois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937325" y="339090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Rétention &amp; personnalisation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6937325" y="4419600"/>
            <a:ext cx="48545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i="1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"Allset s'adapte à ma famille."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937325" y="508635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25159" y="5038725"/>
            <a:ext cx="28808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Templates réutilisables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6937325" y="55530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25159" y="5505450"/>
            <a:ext cx="2792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Assignation de tâches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937325" y="60198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5159" y="5972175"/>
            <a:ext cx="346215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Recommandations IA destinations + items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2036326" y="2790825"/>
            <a:ext cx="9525" cy="6124575"/>
          </a:xfrm>
          <a:prstGeom prst="rect">
            <a:avLst/>
          </a:prstGeom>
          <a:solidFill>
            <a:srgbClr val="5C4742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12731651" y="2790825"/>
            <a:ext cx="617786" cy="409575"/>
          </a:xfrm>
          <a:prstGeom prst="roundRect">
            <a:avLst>
              <a:gd name="adj" fmla="val 4651"/>
            </a:avLst>
          </a:prstGeom>
          <a:ln w="9525">
            <a:solidFill>
              <a:srgbClr val="1C171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2874526" y="2847975"/>
            <a:ext cx="4082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463736" y="2857500"/>
            <a:ext cx="121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75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12–18 mois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2731651" y="339090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Intelligence &amp; Anticipation</a:t>
            </a:r>
            <a:endParaRPr lang="en-US" sz="3150" dirty="0"/>
          </a:p>
        </p:txBody>
      </p:sp>
      <p:sp>
        <p:nvSpPr>
          <p:cNvPr id="38" name="Text 36"/>
          <p:cNvSpPr/>
          <p:nvPr/>
        </p:nvSpPr>
        <p:spPr>
          <a:xfrm>
            <a:off x="12731651" y="4419600"/>
            <a:ext cx="454559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i="1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"Allset anticipe — je n'ai presque rien à saisir."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2731651" y="54768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019484" y="5429250"/>
            <a:ext cx="29746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Recommandations IA personnalisées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2731651" y="59436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019484" y="5895975"/>
            <a:ext cx="18631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email / PDF + mode veille J-1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2731651" y="641032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019484" y="6362700"/>
            <a:ext cx="33238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Réactivation voyage passé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6607730" y="9420225"/>
            <a:ext cx="613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09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762000"/>
            <a:ext cx="1491413" cy="40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1714"/>
                </a:solidFill>
              </a:rPr>
              <a:t>allset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0" y="800100"/>
            <a:ext cx="70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7A756D"/>
                </a:solidFill>
              </a:rPr>
              <a:t>PROCESSUS &amp;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23975"/>
            <a:ext cx="16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1">
                <a:solidFill>
                  <a:srgbClr val="1C1714"/>
                </a:solidFill>
                <a:latin typeface="Playfair Display"/>
              </a:rPr>
              <a:t>De l'idée au produit — 5 étapes.</a:t>
            </a:r>
          </a:p>
        </p:txBody>
      </p:sp>
      <p:sp>
        <p:nvSpPr>
          <p:cNvPr id="9001" name="hline"/>
          <p:cNvSpPr>
            <a:spLocks noGrp="1"/>
          </p:cNvSpPr>
          <p:nvPr/>
        </p:nvSpPr>
        <p:spPr>
          <a:xfrm>
            <a:off x="1143000" y="2381250"/>
            <a:ext cx="160020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TextBox 9001"/>
          <p:cNvSpPr txBox="1"/>
          <p:nvPr/>
        </p:nvSpPr>
        <p:spPr>
          <a:xfrm>
            <a:off x="1143000" y="2533650"/>
            <a:ext cx="6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756D"/>
                </a:solidFill>
              </a:rPr>
              <a:t>01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1143000" y="297180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1C1714"/>
                </a:solidFill>
                <a:latin typeface="Playfair Display"/>
              </a:rPr>
              <a:t>Idéation
&amp; Design</a:t>
            </a:r>
          </a:p>
        </p:txBody>
      </p:sp>
      <p:sp>
        <p:nvSpPr>
          <p:cNvPr id="9004" name="TextBox 9003"/>
          <p:cNvSpPr txBox="1"/>
          <p:nvPr/>
        </p:nvSpPr>
        <p:spPr>
          <a:xfrm>
            <a:off x="1143000" y="4010175"/>
            <a:ext cx="2971800" cy="129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56D"/>
                </a:solidFill>
              </a:rPr>
              <a:t>Exploration du problème, définition du persona, features MVP.</a:t>
            </a:r>
          </a:p>
        </p:txBody>
      </p:sp>
      <p:sp>
        <p:nvSpPr>
          <p:cNvPr id="5" name="hline"/>
          <p:cNvSpPr>
            <a:spLocks noGrp="1"/>
          </p:cNvSpPr>
          <p:nvPr/>
        </p:nvSpPr>
        <p:spPr>
          <a:xfrm>
            <a:off x="1143000" y="5457825"/>
            <a:ext cx="29718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5" name="TextBox 9004"/>
          <p:cNvSpPr txBox="1"/>
          <p:nvPr/>
        </p:nvSpPr>
        <p:spPr>
          <a:xfrm>
            <a:off x="1143000" y="5562225"/>
            <a:ext cx="60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56D"/>
                </a:solidFill>
              </a:rPr>
              <a:t>OUTIL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143000" y="5876925"/>
            <a:ext cx="29718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C1714"/>
                </a:solidFill>
              </a:rPr>
              <a:t>Claude Projets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4314800" y="2533650"/>
            <a:ext cx="6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756D"/>
                </a:solidFill>
              </a:rPr>
              <a:t>02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4314800" y="297180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1C1714"/>
                </a:solidFill>
                <a:latin typeface="Playfair Display"/>
              </a:rPr>
              <a:t>Prototype
cliquable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4314800" y="4010175"/>
            <a:ext cx="2971800" cy="129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56D"/>
                </a:solidFill>
              </a:rPr>
              <a:t>8 écrans HTML/CSS/JS, single-file, aucune dépendance externe.</a:t>
            </a:r>
          </a:p>
        </p:txBody>
      </p:sp>
      <p:sp>
        <p:nvSpPr>
          <p:cNvPr id="6" name="hline"/>
          <p:cNvSpPr>
            <a:spLocks noGrp="1"/>
          </p:cNvSpPr>
          <p:nvPr/>
        </p:nvSpPr>
        <p:spPr>
          <a:xfrm>
            <a:off x="4314800" y="5457825"/>
            <a:ext cx="29718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0" name="TextBox 9009"/>
          <p:cNvSpPr txBox="1"/>
          <p:nvPr/>
        </p:nvSpPr>
        <p:spPr>
          <a:xfrm>
            <a:off x="4314800" y="5562225"/>
            <a:ext cx="60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56D"/>
                </a:solidFill>
              </a:rPr>
              <a:t>OUTIL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4314800" y="5876925"/>
            <a:ext cx="29718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C1714"/>
                </a:solidFill>
              </a:rPr>
              <a:t>Claude Code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7486600" y="2533650"/>
            <a:ext cx="6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756D"/>
                </a:solidFill>
              </a:rPr>
              <a:t>03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7486600" y="297180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1C1714"/>
                </a:solidFill>
                <a:latin typeface="Playfair Display"/>
              </a:rPr>
              <a:t>Database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7486600" y="4010175"/>
            <a:ext cx="2971800" cy="129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56D"/>
                </a:solidFill>
              </a:rPr>
              <a:t>5 tables, 6 champs calculés, schéma dénormalisé conçu pour Softr.</a:t>
            </a:r>
          </a:p>
        </p:txBody>
      </p:sp>
      <p:sp>
        <p:nvSpPr>
          <p:cNvPr id="7" name="hline"/>
          <p:cNvSpPr>
            <a:spLocks noGrp="1"/>
          </p:cNvSpPr>
          <p:nvPr/>
        </p:nvSpPr>
        <p:spPr>
          <a:xfrm>
            <a:off x="7486600" y="5457825"/>
            <a:ext cx="29718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5" name="TextBox 9014"/>
          <p:cNvSpPr txBox="1"/>
          <p:nvPr/>
        </p:nvSpPr>
        <p:spPr>
          <a:xfrm>
            <a:off x="7486600" y="5562225"/>
            <a:ext cx="60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56D"/>
                </a:solidFill>
              </a:rPr>
              <a:t>OUTIL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7486600" y="5876925"/>
            <a:ext cx="29718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C1714"/>
                </a:solidFill>
              </a:rPr>
              <a:t>Airtable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10658400" y="2533650"/>
            <a:ext cx="6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756D"/>
                </a:solidFill>
              </a:rPr>
              <a:t>04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10658400" y="297180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1C1714"/>
                </a:solidFill>
                <a:latin typeface="Playfair Display"/>
              </a:rPr>
              <a:t>Pages
de l'app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10658400" y="4010175"/>
            <a:ext cx="2971800" cy="129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56D"/>
                </a:solidFill>
              </a:rPr>
              <a:t>10 écrans configurés avec blocs natifs + custom code pour les interactions.</a:t>
            </a:r>
          </a:p>
        </p:txBody>
      </p:sp>
      <p:sp>
        <p:nvSpPr>
          <p:cNvPr id="8" name="hline"/>
          <p:cNvSpPr>
            <a:spLocks noGrp="1"/>
          </p:cNvSpPr>
          <p:nvPr/>
        </p:nvSpPr>
        <p:spPr>
          <a:xfrm>
            <a:off x="10658400" y="5457825"/>
            <a:ext cx="29718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0" name="TextBox 9019"/>
          <p:cNvSpPr txBox="1"/>
          <p:nvPr/>
        </p:nvSpPr>
        <p:spPr>
          <a:xfrm>
            <a:off x="10658400" y="5562225"/>
            <a:ext cx="60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56D"/>
                </a:solidFill>
              </a:rPr>
              <a:t>OUTIL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10658400" y="5876925"/>
            <a:ext cx="29718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C1714"/>
                </a:solidFill>
              </a:rPr>
              <a:t>Softr + HTML / CSS / JS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13830200" y="2533650"/>
            <a:ext cx="6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756D"/>
                </a:solidFill>
              </a:rPr>
              <a:t>05</a:t>
            </a:r>
          </a:p>
        </p:txBody>
      </p:sp>
      <p:sp>
        <p:nvSpPr>
          <p:cNvPr id="9023" name="TextBox 9022"/>
          <p:cNvSpPr txBox="1"/>
          <p:nvPr/>
        </p:nvSpPr>
        <p:spPr>
          <a:xfrm>
            <a:off x="13830200" y="297180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1C1714"/>
                </a:solidFill>
                <a:latin typeface="Playfair Display"/>
              </a:rPr>
              <a:t>Lien
partenaire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13830200" y="4010175"/>
            <a:ext cx="2971800" cy="129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56D"/>
                </a:solidFill>
              </a:rPr>
              <a:t>Vue partenaire déployée, lien modifiable sans backend. Limite MVP acceptée.</a:t>
            </a:r>
          </a:p>
        </p:txBody>
      </p:sp>
      <p:sp>
        <p:nvSpPr>
          <p:cNvPr id="9" name="hline"/>
          <p:cNvSpPr>
            <a:spLocks noGrp="1"/>
          </p:cNvSpPr>
          <p:nvPr/>
        </p:nvSpPr>
        <p:spPr>
          <a:xfrm>
            <a:off x="13830200" y="5457825"/>
            <a:ext cx="29718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5" name="TextBox 9024"/>
          <p:cNvSpPr txBox="1"/>
          <p:nvPr/>
        </p:nvSpPr>
        <p:spPr>
          <a:xfrm>
            <a:off x="13830200" y="5562225"/>
            <a:ext cx="60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56D"/>
                </a:solidFill>
              </a:rPr>
              <a:t>OUTIL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13830200" y="5876925"/>
            <a:ext cx="29718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C1714"/>
                </a:solidFill>
              </a:rPr>
              <a:t>GitHub Pages</a:t>
            </a:r>
          </a:p>
        </p:txBody>
      </p:sp>
      <p:sp>
        <p:nvSpPr>
          <p:cNvPr id="10" name="hline"/>
          <p:cNvSpPr>
            <a:spLocks noGrp="1"/>
          </p:cNvSpPr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7" name="TextBox 9026"/>
          <p:cNvSpPr txBox="1"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714"/>
                </a:solidFill>
              </a:rPr>
              <a:t>ALLSET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16607730" y="9420225"/>
            <a:ext cx="677317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7A756D"/>
                </a:solidFill>
              </a:rPr>
              <a:t>07 ·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762000"/>
            <a:ext cx="1491413" cy="40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0E8"/>
                </a:solidFill>
              </a:rPr>
              <a:t>allset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543500"/>
            <a:ext cx="1600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5F0E8"/>
                </a:solidFill>
                <a:latin typeface="Playfair Display"/>
              </a:rPr>
              <a:t>ANNEXES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671836"/>
            <a:ext cx="1600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A756D"/>
                </a:solidFill>
              </a:rPr>
              <a:t>La Solution  ·  Le Moment Aha  ·  L'Interface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4500" y="1800225"/>
            <a:ext cx="6686550" cy="6686550"/>
          </a:xfrm>
          <a:prstGeom prst="ellipse">
            <a:avLst/>
          </a:prstGeom>
          <a:ln w="9525">
            <a:solidFill>
              <a:srgbClr val="8D5B4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142999" y="762000"/>
            <a:ext cx="995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284202" y="800100"/>
            <a:ext cx="20468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SOLUTION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0099" y="3887390"/>
            <a:ext cx="2975610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100" i="1" kern="0" spc="-150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11100" dirty="0"/>
          </a:p>
        </p:txBody>
      </p:sp>
      <p:sp>
        <p:nvSpPr>
          <p:cNvPr id="7" name="Text 5"/>
          <p:cNvSpPr/>
          <p:nvPr/>
        </p:nvSpPr>
        <p:spPr>
          <a:xfrm>
            <a:off x="4191000" y="3469481"/>
            <a:ext cx="4120515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250" dirty="0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votre voyage en étapes et génère automatiquement ce qu'il faut vérifier pour chacune.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6041231"/>
            <a:ext cx="3810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43000" y="6503194"/>
            <a:ext cx="4153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634579" y="6474619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mémorisée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34579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moule de voyage réutilisable à chaque séjour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254079" y="6503194"/>
            <a:ext cx="4446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774978" y="6474619"/>
            <a:ext cx="319252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Checklists intelligentes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774978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Générées automatiquement par type d'étape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439275" y="6503194"/>
            <a:ext cx="440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956155" y="6474619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 en un lien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956155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partenaire sans téléchargement, synchronisée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539567" y="9420225"/>
            <a:ext cx="681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Annexe 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9950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820454" y="800100"/>
            <a:ext cx="25570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MOMENT AHA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i="1" kern="0" spc="-37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valeur, dès la première étape créée.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4481513"/>
            <a:ext cx="6726436" cy="2333625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9525">
            <a:solidFill>
              <a:srgbClr val="5C4742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571625" y="4872038"/>
            <a:ext cx="64561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MARIE SAISIT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71625" y="5357813"/>
            <a:ext cx="64561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i="1" kern="0" spc="-37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 Paris → Barcelone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1571625" y="6062663"/>
            <a:ext cx="361950" cy="361950"/>
          </a:xfrm>
          <a:prstGeom prst="ellipse">
            <a:avLst/>
          </a:prstGeom>
          <a:solidFill>
            <a:srgbClr val="F5F0E8"/>
          </a:solidFill>
          <a:ln w="9525">
            <a:solidFill>
              <a:srgbClr val="5C474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543050" y="6072188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047875" y="6067425"/>
            <a:ext cx="310477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: Vol · Sélectionné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768554" y="4643438"/>
            <a:ext cx="938957" cy="371475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82854" y="4681538"/>
            <a:ext cx="7865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SAISIE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55236" y="53435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1C1714">
                    <a:alpha val="1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9850636" y="3000375"/>
            <a:ext cx="7294364" cy="5295900"/>
          </a:xfrm>
          <a:prstGeom prst="roundRect">
            <a:avLst>
              <a:gd name="adj" fmla="val 540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0269736" y="3381375"/>
            <a:ext cx="71017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C4BBA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 GÉNÈRE INSTANTANÉMENT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69736" y="3752850"/>
            <a:ext cx="71017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kern="0" spc="-75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10269736" y="4552950"/>
            <a:ext cx="71017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items de checklist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269736" y="525780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0241459" y="5219700"/>
            <a:ext cx="2851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36436" y="5172075"/>
            <a:ext cx="4784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5F0E8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 confirmé (n° réservation + email)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269736" y="567690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0241459" y="5638800"/>
            <a:ext cx="2851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36436" y="5591175"/>
            <a:ext cx="26941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5F0E8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 fait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269736" y="6086475"/>
            <a:ext cx="171450" cy="171450"/>
          </a:xfrm>
          <a:prstGeom prst="roundRect">
            <a:avLst>
              <a:gd name="adj" fmla="val 16667"/>
            </a:avLst>
          </a:prstGeom>
          <a:ln w="9525">
            <a:solidFill>
              <a:srgbClr val="C4BB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0555486" y="6010275"/>
            <a:ext cx="44632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Autorisation de sortie du territoire…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269736" y="6505575"/>
            <a:ext cx="171450" cy="171450"/>
          </a:xfrm>
          <a:prstGeom prst="roundRect">
            <a:avLst>
              <a:gd name="adj" fmla="val 16667"/>
            </a:avLst>
          </a:prstGeom>
          <a:ln w="9525">
            <a:solidFill>
              <a:srgbClr val="C4BB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0555486" y="6429375"/>
            <a:ext cx="41536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de présentation aéroport…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269736" y="6981825"/>
            <a:ext cx="6456164" cy="933450"/>
          </a:xfrm>
          <a:prstGeom prst="roundRect">
            <a:avLst>
              <a:gd name="adj" fmla="val 2041"/>
            </a:avLst>
          </a:prstGeom>
          <a:solidFill>
            <a:srgbClr val="8D5B4C">
              <a:alpha val="18000"/>
            </a:srgbClr>
          </a:solidFill>
          <a:ln w="9525">
            <a:solidFill>
              <a:srgbClr val="8D5B4C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0431661" y="7105650"/>
            <a:ext cx="631628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Dont </a:t>
            </a:r>
            <a:r>
              <a:rPr lang="en-US" sz="180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items qu'elle aurait oubliés </a:t>
            </a:r>
            <a:r>
              <a:rPr lang="en-US" sz="18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documents enfants, autorisation sortie territoire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560105" y="9420225"/>
            <a:ext cx="6610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Annexe 2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9" y="762000"/>
            <a:ext cx="11028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959435" y="838200"/>
            <a:ext cx="12617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300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L'INTERFACE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146685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650" i="1" kern="0" spc="-37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Trois écrans. Une seule logique.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5125045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787033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139333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0EB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139333" y="3500438"/>
            <a:ext cx="2133600" cy="1409700"/>
          </a:xfrm>
          <a:prstGeom prst="rect">
            <a:avLst/>
          </a:prstGeom>
          <a:gradFill rotWithShape="1">
            <a:gsLst>
              <a:gs pos="0">
                <a:srgbClr val="2E2010">
                  <a:alpha val="100000"/>
                </a:srgbClr>
              </a:gs>
              <a:gs pos="100000">
                <a:srgbClr val="6B4822">
                  <a:alpha val="100000"/>
                </a:srgbClr>
              </a:gs>
            </a:gsLst>
            <a:lin ang="3900000" scaled="0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139333" y="3500438"/>
            <a:ext cx="2133600" cy="1409700"/>
          </a:xfrm>
          <a:prstGeom prst="rect">
            <a:avLst/>
          </a:prstGeom>
          <a:gradFill rotWithShape="1">
            <a:gsLst>
              <a:gs pos="0">
                <a:srgbClr val="000000">
                  <a:alpha val="72000"/>
                </a:srgbClr>
              </a:gs>
              <a:gs pos="100000">
                <a:srgbClr val="000000">
                  <a:alpha val="4000"/>
                </a:srgbClr>
              </a:gs>
            </a:gsLst>
            <a:lin ang="16200000" scaled="0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272683" y="3633788"/>
            <a:ext cx="1196876" cy="209550"/>
          </a:xfrm>
          <a:prstGeom prst="roundRect">
            <a:avLst>
              <a:gd name="adj" fmla="val 18182"/>
            </a:avLst>
          </a:prstGeom>
          <a:solidFill>
            <a:srgbClr val="FFFFFF">
              <a:alpha val="17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358408" y="3671888"/>
            <a:ext cx="11016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75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VENIR · 14 JUIL.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272683" y="4491038"/>
            <a:ext cx="11172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Barcelone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139333" y="4910138"/>
            <a:ext cx="2133600" cy="390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139333" y="5291138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272683" y="4995863"/>
            <a:ext cx="228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5501283" y="5000625"/>
            <a:ext cx="3521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 22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3410" y="5091113"/>
            <a:ext cx="1286173" cy="19050"/>
          </a:xfrm>
          <a:prstGeom prst="roundRect">
            <a:avLst>
              <a:gd name="adj" fmla="val 50000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853410" y="5091113"/>
            <a:ext cx="707380" cy="190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139333" y="5300663"/>
            <a:ext cx="2133600" cy="1533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139333" y="58054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272683" y="545782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5577483" y="539591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 Paris → Barcelone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77483" y="557688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Calé · 5/8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5139333" y="631983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272683" y="597217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5577483" y="591026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Hôtel Barceloneta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483" y="609123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cours · 3/5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272683" y="648652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5577483" y="642461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 voiture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483" y="660558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Manquant · 0/5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047231" y="7953375"/>
            <a:ext cx="23176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kern="0" spc="150" dirty="0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5047231" y="8201025"/>
            <a:ext cx="23176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d'ensemble du voyage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896820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8558808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7911108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7911108" y="3500438"/>
            <a:ext cx="2133600" cy="1390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7911108" y="48815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8044458" y="3919537"/>
            <a:ext cx="20535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4458" y="4110038"/>
            <a:ext cx="2053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Paris → Barcelone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044458" y="4414838"/>
            <a:ext cx="2419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8238827" y="4510088"/>
            <a:ext cx="1434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334673" y="4510088"/>
            <a:ext cx="1805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496151" y="4519613"/>
            <a:ext cx="5954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validés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7911108" y="55006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8044458" y="499586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061573" y="5005388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73058" y="4986338"/>
            <a:ext cx="17145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strike="sngStrike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 confirmé (n° réservation)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911108" y="591026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8044458" y="5614988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8061573" y="5624513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73058" y="5605463"/>
            <a:ext cx="16580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strike="sngStrike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 fait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911108" y="65293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8044458" y="6024563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8301633" y="6015038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Visas &amp; autorisations vérifiés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911108" y="714851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8044458" y="6643688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8301633" y="6634163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Autorisation sortie du territoire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044458" y="7262813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8301633" y="7253288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de présentation aéroport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967982" y="7953375"/>
            <a:ext cx="20197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kern="0" spc="150" dirty="0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</a:t>
            </a:r>
            <a:endParaRPr lang="en-US" sz="1275" dirty="0"/>
          </a:p>
        </p:txBody>
      </p:sp>
      <p:sp>
        <p:nvSpPr>
          <p:cNvPr id="61" name="Text 59"/>
          <p:cNvSpPr/>
          <p:nvPr/>
        </p:nvSpPr>
        <p:spPr>
          <a:xfrm>
            <a:off x="7967982" y="8201025"/>
            <a:ext cx="20197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Auto-générée, éditable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10834688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11496675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10848975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0EB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10848975" y="3500438"/>
            <a:ext cx="2133600" cy="13525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10982325" y="3919537"/>
            <a:ext cx="20535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50" dirty="0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PARTAGÉ PAR MARIE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10982325" y="4110038"/>
            <a:ext cx="2053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Barcelone</a:t>
            </a:r>
            <a:endParaRPr lang="en-US" sz="2850" dirty="0"/>
          </a:p>
        </p:txBody>
      </p:sp>
      <p:sp>
        <p:nvSpPr>
          <p:cNvPr id="68" name="Text 66"/>
          <p:cNvSpPr/>
          <p:nvPr/>
        </p:nvSpPr>
        <p:spPr>
          <a:xfrm>
            <a:off x="10982325" y="4510088"/>
            <a:ext cx="20535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→ 21 juillet 2026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0848975" y="4852988"/>
            <a:ext cx="2133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10848975" y="55292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10982325" y="4967288"/>
            <a:ext cx="3812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2250" dirty="0"/>
          </a:p>
        </p:txBody>
      </p:sp>
      <p:sp>
        <p:nvSpPr>
          <p:cNvPr id="72" name="Text 70"/>
          <p:cNvSpPr/>
          <p:nvPr/>
        </p:nvSpPr>
        <p:spPr>
          <a:xfrm>
            <a:off x="11315998" y="5024438"/>
            <a:ext cx="5508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 22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0982325" y="5395913"/>
            <a:ext cx="1866900" cy="19050"/>
          </a:xfrm>
          <a:prstGeom prst="roundRect">
            <a:avLst>
              <a:gd name="adj" fmla="val 50000"/>
            </a:avLst>
          </a:prstGeom>
          <a:solidFill>
            <a:srgbClr val="000000">
              <a:alpha val="7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0982325" y="5395913"/>
            <a:ext cx="839986" cy="190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0848975" y="5538788"/>
            <a:ext cx="2133600" cy="1314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0848975" y="5538788"/>
            <a:ext cx="2133600" cy="266700"/>
          </a:xfrm>
          <a:prstGeom prst="rect">
            <a:avLst/>
          </a:prstGeom>
          <a:solidFill>
            <a:srgbClr val="000000">
              <a:alpha val="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10982325" y="5605463"/>
            <a:ext cx="20535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13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10848975" y="61483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0982325" y="591026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10999440" y="5919788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210925" y="5891213"/>
            <a:ext cx="10941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strike="sngStrike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Billets confirmés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0848975" y="650081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10982325" y="6248400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11239500" y="6243638"/>
            <a:ext cx="11601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10982325" y="6600825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11239500" y="6596063"/>
            <a:ext cx="14354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aéroport calée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0848975" y="7319963"/>
            <a:ext cx="2133600" cy="428625"/>
          </a:xfrm>
          <a:prstGeom prst="rect">
            <a:avLst/>
          </a:prstGeom>
          <a:solidFill>
            <a:srgbClr val="F0EB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10848975" y="73199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10944225" y="7405688"/>
            <a:ext cx="19431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38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 · synchronisé en temps réel avec Marie</a:t>
            </a:r>
            <a:endParaRPr lang="en-US" sz="825" dirty="0"/>
          </a:p>
        </p:txBody>
      </p:sp>
      <p:sp>
        <p:nvSpPr>
          <p:cNvPr id="90" name="Text 88"/>
          <p:cNvSpPr/>
          <p:nvPr/>
        </p:nvSpPr>
        <p:spPr>
          <a:xfrm>
            <a:off x="10543877" y="7953375"/>
            <a:ext cx="27437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kern="0" spc="150" dirty="0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PARTENAIRE</a:t>
            </a:r>
            <a:endParaRPr lang="en-US" sz="1275" dirty="0"/>
          </a:p>
        </p:txBody>
      </p:sp>
      <p:sp>
        <p:nvSpPr>
          <p:cNvPr id="91" name="Text 89"/>
          <p:cNvSpPr/>
          <p:nvPr/>
        </p:nvSpPr>
        <p:spPr>
          <a:xfrm>
            <a:off x="10543877" y="8201025"/>
            <a:ext cx="27437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Lien web · sans téléchargement</a:t>
            </a:r>
            <a:endParaRPr lang="en-US" sz="1350" dirty="0"/>
          </a:p>
        </p:txBody>
      </p:sp>
      <p:sp>
        <p:nvSpPr>
          <p:cNvPr id="92" name="Shape 90"/>
          <p:cNvSpPr/>
          <p:nvPr/>
        </p:nvSpPr>
        <p:spPr>
          <a:xfrm>
            <a:off x="1143000" y="931545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1143000" y="9515475"/>
            <a:ext cx="7364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88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16741676" y="9515475"/>
            <a:ext cx="479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Annexe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1159</Words>
  <Application>Microsoft Macintosh PowerPoint</Application>
  <PresentationFormat>Personnalisé</PresentationFormat>
  <Paragraphs>230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Cormorant Garamond</vt:lpstr>
      <vt:lpstr>DM Sans</vt:lpstr>
      <vt:lpstr>Playfair Display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Ando RAKOTOARIMANANA</cp:lastModifiedBy>
  <cp:revision>11</cp:revision>
  <dcterms:created xsi:type="dcterms:W3CDTF">2026-06-22T09:46:36Z</dcterms:created>
  <dcterms:modified xsi:type="dcterms:W3CDTF">2026-06-25T15:15:45Z</dcterms:modified>
</cp:coreProperties>
</file>